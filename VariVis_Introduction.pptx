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7"/>
    <p:sldId id="267" r:id="rId18"/>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0" cy="82296"/>
          </a:xfrm>
          <a:prstGeom prst="rect">
            <a:avLst/>
          </a:prstGeom>
          <a:solidFill>
            <a:srgbClr val="4361EE"/>
          </a:solidFill>
          <a:ln w="12700">
            <a:solidFill>
              <a:srgbClr val="4361EE"/>
            </a:solidFill>
            <a:prstDash val="solid"/>
          </a:ln>
        </p:spPr>
      </p:sp>
      <p:sp>
        <p:nvSpPr>
          <p:cNvPr id="3" name="Shape 1"/>
          <p:cNvSpPr/>
          <p:nvPr/>
        </p:nvSpPr>
        <p:spPr>
          <a:xfrm>
            <a:off x="2286000" y="0"/>
            <a:ext cx="2286000" cy="82296"/>
          </a:xfrm>
          <a:prstGeom prst="rect">
            <a:avLst/>
          </a:prstGeom>
          <a:solidFill>
            <a:srgbClr val="7B2FBE"/>
          </a:solidFill>
          <a:ln w="12700">
            <a:solidFill>
              <a:srgbClr val="7B2FBE"/>
            </a:solidFill>
            <a:prstDash val="solid"/>
          </a:ln>
        </p:spPr>
      </p:sp>
      <p:sp>
        <p:nvSpPr>
          <p:cNvPr id="4" name="Shape 2"/>
          <p:cNvSpPr/>
          <p:nvPr/>
        </p:nvSpPr>
        <p:spPr>
          <a:xfrm>
            <a:off x="4572000" y="0"/>
            <a:ext cx="2286000" cy="82296"/>
          </a:xfrm>
          <a:prstGeom prst="rect">
            <a:avLst/>
          </a:prstGeom>
          <a:solidFill>
            <a:srgbClr val="E76F51"/>
          </a:solidFill>
          <a:ln w="12700">
            <a:solidFill>
              <a:srgbClr val="E76F51"/>
            </a:solidFill>
            <a:prstDash val="solid"/>
          </a:ln>
        </p:spPr>
      </p:sp>
      <p:sp>
        <p:nvSpPr>
          <p:cNvPr id="5" name="Shape 3"/>
          <p:cNvSpPr/>
          <p:nvPr/>
        </p:nvSpPr>
        <p:spPr>
          <a:xfrm>
            <a:off x="6858000" y="0"/>
            <a:ext cx="2286000" cy="82296"/>
          </a:xfrm>
          <a:prstGeom prst="rect">
            <a:avLst/>
          </a:prstGeom>
          <a:solidFill>
            <a:srgbClr val="2DC653"/>
          </a:solidFill>
          <a:ln w="12700">
            <a:solidFill>
              <a:srgbClr val="2DC653"/>
            </a:solidFill>
            <a:prstDash val="solid"/>
          </a:ln>
        </p:spPr>
      </p:sp>
      <p:sp>
        <p:nvSpPr>
          <p:cNvPr id="6" name="Shape 4"/>
          <p:cNvSpPr/>
          <p:nvPr/>
        </p:nvSpPr>
        <p:spPr>
          <a:xfrm>
            <a:off x="-548640" y="3200400"/>
            <a:ext cx="4023360" cy="4023360"/>
          </a:xfrm>
          <a:prstGeom prst="ellipse">
            <a:avLst/>
          </a:prstGeom>
          <a:solidFill>
            <a:srgbClr val="4361EE">
              <a:alpha val="8000"/>
            </a:srgbClr>
          </a:solidFill>
          <a:ln w="12700">
            <a:solidFill>
              <a:srgbClr val="4361EE">
                <a:alpha val="8000"/>
              </a:srgbClr>
            </a:solidFill>
            <a:prstDash val="solid"/>
          </a:ln>
        </p:spPr>
      </p:sp>
      <p:sp>
        <p:nvSpPr>
          <p:cNvPr id="7" name="Shape 5"/>
          <p:cNvSpPr/>
          <p:nvPr/>
        </p:nvSpPr>
        <p:spPr>
          <a:xfrm>
            <a:off x="7498080" y="-274320"/>
            <a:ext cx="3291840" cy="3291840"/>
          </a:xfrm>
          <a:prstGeom prst="ellipse">
            <a:avLst/>
          </a:prstGeom>
          <a:solidFill>
            <a:srgbClr val="2DC653">
              <a:alpha val="7000"/>
            </a:srgbClr>
          </a:solidFill>
          <a:ln w="12700">
            <a:solidFill>
              <a:srgbClr val="2DC653">
                <a:alpha val="7000"/>
              </a:srgbClr>
            </a:solidFill>
            <a:prstDash val="solid"/>
          </a:ln>
        </p:spPr>
      </p:sp>
      <p:sp>
        <p:nvSpPr>
          <p:cNvPr id="8" name="Shape 6"/>
          <p:cNvSpPr/>
          <p:nvPr/>
        </p:nvSpPr>
        <p:spPr>
          <a:xfrm>
            <a:off x="8321040" y="3840480"/>
            <a:ext cx="2377440" cy="2377440"/>
          </a:xfrm>
          <a:prstGeom prst="ellipse">
            <a:avLst/>
          </a:prstGeom>
          <a:solidFill>
            <a:srgbClr val="E76F51">
              <a:alpha val="7000"/>
            </a:srgbClr>
          </a:solidFill>
          <a:ln w="12700">
            <a:solidFill>
              <a:srgbClr val="E76F51">
                <a:alpha val="7000"/>
              </a:srgbClr>
            </a:solidFill>
            <a:prstDash val="solid"/>
          </a:ln>
        </p:spPr>
      </p:sp>
      <p:sp>
        <p:nvSpPr>
          <p:cNvPr id="9" name="Text 7"/>
          <p:cNvSpPr/>
          <p:nvPr/>
        </p:nvSpPr>
        <p:spPr>
          <a:xfrm>
            <a:off x="457200" y="1188720"/>
            <a:ext cx="8229600" cy="1280160"/>
          </a:xfrm>
          <a:prstGeom prst="rect">
            <a:avLst/>
          </a:prstGeom>
          <a:noFill/>
          <a:ln/>
        </p:spPr>
        <p:txBody>
          <a:bodyPr wrap="square" lIns="0" tIns="0" rIns="0" bIns="0" rtlCol="0" anchor="ctr"/>
          <a:lstStyle/>
          <a:p>
            <a:pPr algn="ctr" indent="0" marL="0">
              <a:buNone/>
            </a:pPr>
            <a:r>
              <a:rPr lang="en-US" sz="6600" b="1" dirty="0">
                <a:solidFill>
                  <a:srgbClr val="1E293B"/>
                </a:solidFill>
                <a:latin typeface="Georgia" pitchFamily="34" charset="0"/>
                <a:ea typeface="Georgia" pitchFamily="34" charset="-122"/>
                <a:cs typeface="Georgia" pitchFamily="34" charset="-120"/>
              </a:rPr>
              <a:t>VariVis</a:t>
            </a:r>
            <a:endParaRPr lang="en-US" sz="6600" dirty="0"/>
          </a:p>
        </p:txBody>
      </p:sp>
      <p:sp>
        <p:nvSpPr>
          <p:cNvPr id="10" name="Text 8"/>
          <p:cNvSpPr/>
          <p:nvPr/>
        </p:nvSpPr>
        <p:spPr>
          <a:xfrm>
            <a:off x="457200" y="2606040"/>
            <a:ext cx="8229600" cy="457200"/>
          </a:xfrm>
          <a:prstGeom prst="rect">
            <a:avLst/>
          </a:prstGeom>
          <a:noFill/>
          <a:ln/>
        </p:spPr>
        <p:txBody>
          <a:bodyPr wrap="square" lIns="0" tIns="0" rIns="0" bIns="0" rtlCol="0" anchor="ctr"/>
          <a:lstStyle/>
          <a:p>
            <a:pPr algn="ctr" indent="0" marL="0">
              <a:buNone/>
            </a:pPr>
            <a:r>
              <a:rPr lang="en-US" sz="1800" dirty="0">
                <a:solidFill>
                  <a:srgbClr val="64748B"/>
                </a:solidFill>
                <a:latin typeface="Calibri" pitchFamily="34" charset="0"/>
                <a:ea typeface="Calibri" pitchFamily="34" charset="-122"/>
                <a:cs typeface="Calibri" pitchFamily="34" charset="-120"/>
              </a:rPr>
              <a:t>Classical Music Theme &amp; Variations · Multi-Dimensional Visualization System</a:t>
            </a:r>
            <a:endParaRPr lang="en-US" sz="1800" dirty="0"/>
          </a:p>
        </p:txBody>
      </p:sp>
      <p:sp>
        <p:nvSpPr>
          <p:cNvPr id="11" name="Text 9"/>
          <p:cNvSpPr/>
          <p:nvPr/>
        </p:nvSpPr>
        <p:spPr>
          <a:xfrm>
            <a:off x="457200" y="3127248"/>
            <a:ext cx="8229600" cy="310896"/>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Feature Introduction for New Users</a:t>
            </a:r>
            <a:endParaRPr lang="en-US" sz="1300" dirty="0"/>
          </a:p>
        </p:txBody>
      </p:sp>
      <p:sp>
        <p:nvSpPr>
          <p:cNvPr id="12" name="Shape 10"/>
          <p:cNvSpPr/>
          <p:nvPr/>
        </p:nvSpPr>
        <p:spPr>
          <a:xfrm>
            <a:off x="1188720" y="4206240"/>
            <a:ext cx="164592" cy="164592"/>
          </a:xfrm>
          <a:prstGeom prst="ellipse">
            <a:avLst/>
          </a:prstGeom>
          <a:solidFill>
            <a:srgbClr val="4361EE"/>
          </a:solidFill>
          <a:ln w="12700">
            <a:solidFill>
              <a:srgbClr val="4361EE"/>
            </a:solidFill>
            <a:prstDash val="solid"/>
          </a:ln>
        </p:spPr>
      </p:sp>
      <p:sp>
        <p:nvSpPr>
          <p:cNvPr id="13" name="Text 11"/>
          <p:cNvSpPr/>
          <p:nvPr/>
        </p:nvSpPr>
        <p:spPr>
          <a:xfrm>
            <a:off x="1426464" y="4187952"/>
            <a:ext cx="1554480" cy="20116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Pitch Contour</a:t>
            </a:r>
            <a:endParaRPr lang="en-US" sz="1100" dirty="0"/>
          </a:p>
        </p:txBody>
      </p:sp>
      <p:sp>
        <p:nvSpPr>
          <p:cNvPr id="14" name="Shape 12"/>
          <p:cNvSpPr/>
          <p:nvPr/>
        </p:nvSpPr>
        <p:spPr>
          <a:xfrm>
            <a:off x="3200400" y="4206240"/>
            <a:ext cx="164592" cy="164592"/>
          </a:xfrm>
          <a:prstGeom prst="ellipse">
            <a:avLst/>
          </a:prstGeom>
          <a:solidFill>
            <a:srgbClr val="7B2FBE"/>
          </a:solidFill>
          <a:ln w="12700">
            <a:solidFill>
              <a:srgbClr val="7B2FBE"/>
            </a:solidFill>
            <a:prstDash val="solid"/>
          </a:ln>
        </p:spPr>
      </p:sp>
      <p:sp>
        <p:nvSpPr>
          <p:cNvPr id="15" name="Text 13"/>
          <p:cNvSpPr/>
          <p:nvPr/>
        </p:nvSpPr>
        <p:spPr>
          <a:xfrm>
            <a:off x="3438144" y="4187952"/>
            <a:ext cx="1554480" cy="20116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Timbre PCA</a:t>
            </a:r>
            <a:endParaRPr lang="en-US" sz="1100" dirty="0"/>
          </a:p>
        </p:txBody>
      </p:sp>
      <p:sp>
        <p:nvSpPr>
          <p:cNvPr id="16" name="Shape 14"/>
          <p:cNvSpPr/>
          <p:nvPr/>
        </p:nvSpPr>
        <p:spPr>
          <a:xfrm>
            <a:off x="5212080" y="4206240"/>
            <a:ext cx="164592" cy="164592"/>
          </a:xfrm>
          <a:prstGeom prst="ellipse">
            <a:avLst/>
          </a:prstGeom>
          <a:solidFill>
            <a:srgbClr val="E76F51"/>
          </a:solidFill>
          <a:ln w="12700">
            <a:solidFill>
              <a:srgbClr val="E76F51"/>
            </a:solidFill>
            <a:prstDash val="solid"/>
          </a:ln>
        </p:spPr>
      </p:sp>
      <p:sp>
        <p:nvSpPr>
          <p:cNvPr id="17" name="Text 15"/>
          <p:cNvSpPr/>
          <p:nvPr/>
        </p:nvSpPr>
        <p:spPr>
          <a:xfrm>
            <a:off x="5449824" y="4187952"/>
            <a:ext cx="1554480" cy="20116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Rhythm Bubbles</a:t>
            </a:r>
            <a:endParaRPr lang="en-US" sz="1100" dirty="0"/>
          </a:p>
        </p:txBody>
      </p:sp>
      <p:sp>
        <p:nvSpPr>
          <p:cNvPr id="18" name="Shape 16"/>
          <p:cNvSpPr/>
          <p:nvPr/>
        </p:nvSpPr>
        <p:spPr>
          <a:xfrm>
            <a:off x="7223760" y="4206240"/>
            <a:ext cx="164592" cy="164592"/>
          </a:xfrm>
          <a:prstGeom prst="ellipse">
            <a:avLst/>
          </a:prstGeom>
          <a:solidFill>
            <a:srgbClr val="2DC653"/>
          </a:solidFill>
          <a:ln w="12700">
            <a:solidFill>
              <a:srgbClr val="2DC653"/>
            </a:solidFill>
            <a:prstDash val="solid"/>
          </a:ln>
        </p:spPr>
      </p:sp>
      <p:sp>
        <p:nvSpPr>
          <p:cNvPr id="19" name="Text 17"/>
          <p:cNvSpPr/>
          <p:nvPr/>
        </p:nvSpPr>
        <p:spPr>
          <a:xfrm>
            <a:off x="7461504" y="4187952"/>
            <a:ext cx="1554480" cy="20116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Chroma 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System Overview: 4 Core Visualization Modules</a:t>
            </a:r>
            <a:endParaRPr lang="en-US" sz="2200" dirty="0"/>
          </a:p>
        </p:txBody>
      </p:sp>
      <p:sp>
        <p:nvSpPr>
          <p:cNvPr id="3" name="Text 1"/>
          <p:cNvSpPr/>
          <p:nvPr/>
        </p:nvSpPr>
        <p:spPr>
          <a:xfrm>
            <a:off x="365760" y="676656"/>
            <a:ext cx="841248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Each module analyzes theme-variation relationships from a different musical dimension</a:t>
            </a:r>
            <a:endParaRPr lang="en-US" sz="1200" dirty="0"/>
          </a:p>
        </p:txBody>
      </p:sp>
      <p:sp>
        <p:nvSpPr>
          <p:cNvPr id="4" name="Shape 2"/>
          <p:cNvSpPr/>
          <p:nvPr/>
        </p:nvSpPr>
        <p:spPr>
          <a:xfrm>
            <a:off x="274320" y="1051560"/>
            <a:ext cx="4114800" cy="1737360"/>
          </a:xfrm>
          <a:prstGeom prst="rect">
            <a:avLst/>
          </a:prstGeom>
          <a:solidFill>
            <a:srgbClr val="F1F5F9"/>
          </a:solidFill>
          <a:ln w="6350">
            <a:solidFill>
              <a:srgbClr val="E2EBF4"/>
            </a:solidFill>
            <a:prstDash val="solid"/>
          </a:ln>
        </p:spPr>
      </p:sp>
      <p:sp>
        <p:nvSpPr>
          <p:cNvPr id="5" name="Shape 3"/>
          <p:cNvSpPr/>
          <p:nvPr/>
        </p:nvSpPr>
        <p:spPr>
          <a:xfrm>
            <a:off x="274320" y="1051560"/>
            <a:ext cx="64008" cy="1737360"/>
          </a:xfrm>
          <a:prstGeom prst="rect">
            <a:avLst/>
          </a:prstGeom>
          <a:solidFill>
            <a:srgbClr val="4361EE"/>
          </a:solidFill>
          <a:ln w="12700">
            <a:solidFill>
              <a:srgbClr val="4361EE"/>
            </a:solidFill>
            <a:prstDash val="solid"/>
          </a:ln>
        </p:spPr>
      </p:sp>
      <p:sp>
        <p:nvSpPr>
          <p:cNvPr id="6" name="Shape 4"/>
          <p:cNvSpPr/>
          <p:nvPr/>
        </p:nvSpPr>
        <p:spPr>
          <a:xfrm>
            <a:off x="438912" y="1252728"/>
            <a:ext cx="420624" cy="420624"/>
          </a:xfrm>
          <a:prstGeom prst="ellipse">
            <a:avLst/>
          </a:prstGeom>
          <a:solidFill>
            <a:srgbClr val="4361EE">
              <a:alpha val="75000"/>
            </a:srgbClr>
          </a:solidFill>
          <a:ln w="12700">
            <a:solidFill>
              <a:srgbClr val="4361EE"/>
            </a:solidFill>
            <a:prstDash val="solid"/>
          </a:ln>
        </p:spPr>
      </p:sp>
      <p:sp>
        <p:nvSpPr>
          <p:cNvPr id="7" name="Text 5"/>
          <p:cNvSpPr/>
          <p:nvPr/>
        </p:nvSpPr>
        <p:spPr>
          <a:xfrm>
            <a:off x="438912" y="1252728"/>
            <a:ext cx="420624" cy="42062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8" name="Text 6"/>
          <p:cNvSpPr/>
          <p:nvPr/>
        </p:nvSpPr>
        <p:spPr>
          <a:xfrm>
            <a:off x="1024128" y="1216152"/>
            <a:ext cx="3246120" cy="329184"/>
          </a:xfrm>
          <a:prstGeom prst="rect">
            <a:avLst/>
          </a:prstGeom>
          <a:noFill/>
          <a:ln/>
        </p:spPr>
        <p:txBody>
          <a:bodyPr wrap="square" lIns="0" tIns="0" rIns="0" bIns="0"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Pitch Contour  Pitch &amp; Variations</a:t>
            </a:r>
            <a:endParaRPr lang="en-US" sz="1400" dirty="0"/>
          </a:p>
        </p:txBody>
      </p:sp>
      <p:sp>
        <p:nvSpPr>
          <p:cNvPr id="9" name="Text 7"/>
          <p:cNvSpPr/>
          <p:nvPr/>
        </p:nvSpPr>
        <p:spPr>
          <a:xfrm>
            <a:off x="1024128" y="1545336"/>
            <a:ext cx="3246120" cy="219456"/>
          </a:xfrm>
          <a:prstGeom prst="rect">
            <a:avLst/>
          </a:prstGeom>
          <a:noFill/>
          <a:ln/>
        </p:spPr>
        <p:txBody>
          <a:bodyPr wrap="square" lIns="0" tIns="0" rIns="0" bIns="0" rtlCol="0" anchor="ctr"/>
          <a:lstStyle/>
          <a:p>
            <a:pPr indent="0" marL="0">
              <a:buNone/>
            </a:pPr>
            <a:r>
              <a:rPr lang="en-US" sz="950" i="1" dirty="0">
                <a:solidFill>
                  <a:srgbClr val="4361EE"/>
                </a:solidFill>
                <a:latin typeface="Calibri" pitchFamily="34" charset="0"/>
                <a:ea typeface="Calibri" pitchFamily="34" charset="-122"/>
                <a:cs typeface="Calibri" pitchFamily="34" charset="-120"/>
              </a:rPr>
              <a:t>Data: Score MIDI + audio pitch detection</a:t>
            </a:r>
            <a:endParaRPr lang="en-US" sz="950" dirty="0"/>
          </a:p>
        </p:txBody>
      </p:sp>
      <p:sp>
        <p:nvSpPr>
          <p:cNvPr id="10" name="Text 8"/>
          <p:cNvSpPr/>
          <p:nvPr/>
        </p:nvSpPr>
        <p:spPr>
          <a:xfrm>
            <a:off x="475488" y="1856232"/>
            <a:ext cx="3785616" cy="804672"/>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Combines melody contour, harmonic content and rhythmic pattern into a single "variation glyph" for side-by-side comparison</a:t>
            </a:r>
            <a:endParaRPr lang="en-US" sz="1100" dirty="0"/>
          </a:p>
        </p:txBody>
      </p:sp>
      <p:sp>
        <p:nvSpPr>
          <p:cNvPr id="11" name="Shape 9"/>
          <p:cNvSpPr/>
          <p:nvPr/>
        </p:nvSpPr>
        <p:spPr>
          <a:xfrm>
            <a:off x="4754880" y="1051560"/>
            <a:ext cx="4114800" cy="1737360"/>
          </a:xfrm>
          <a:prstGeom prst="rect">
            <a:avLst/>
          </a:prstGeom>
          <a:solidFill>
            <a:srgbClr val="F1F5F9"/>
          </a:solidFill>
          <a:ln w="6350">
            <a:solidFill>
              <a:srgbClr val="E2EBF4"/>
            </a:solidFill>
            <a:prstDash val="solid"/>
          </a:ln>
        </p:spPr>
      </p:sp>
      <p:sp>
        <p:nvSpPr>
          <p:cNvPr id="12" name="Shape 10"/>
          <p:cNvSpPr/>
          <p:nvPr/>
        </p:nvSpPr>
        <p:spPr>
          <a:xfrm>
            <a:off x="4754880" y="1051560"/>
            <a:ext cx="64008" cy="1737360"/>
          </a:xfrm>
          <a:prstGeom prst="rect">
            <a:avLst/>
          </a:prstGeom>
          <a:solidFill>
            <a:srgbClr val="7B2FBE"/>
          </a:solidFill>
          <a:ln w="12700">
            <a:solidFill>
              <a:srgbClr val="7B2FBE"/>
            </a:solidFill>
            <a:prstDash val="solid"/>
          </a:ln>
        </p:spPr>
      </p:sp>
      <p:sp>
        <p:nvSpPr>
          <p:cNvPr id="13" name="Shape 11"/>
          <p:cNvSpPr/>
          <p:nvPr/>
        </p:nvSpPr>
        <p:spPr>
          <a:xfrm>
            <a:off x="4919472" y="1252728"/>
            <a:ext cx="420624" cy="420624"/>
          </a:xfrm>
          <a:prstGeom prst="ellipse">
            <a:avLst/>
          </a:prstGeom>
          <a:solidFill>
            <a:srgbClr val="7B2FBE">
              <a:alpha val="75000"/>
            </a:srgbClr>
          </a:solidFill>
          <a:ln w="12700">
            <a:solidFill>
              <a:srgbClr val="7B2FBE"/>
            </a:solidFill>
            <a:prstDash val="solid"/>
          </a:ln>
        </p:spPr>
      </p:sp>
      <p:sp>
        <p:nvSpPr>
          <p:cNvPr id="14" name="Text 12"/>
          <p:cNvSpPr/>
          <p:nvPr/>
        </p:nvSpPr>
        <p:spPr>
          <a:xfrm>
            <a:off x="4919472" y="1252728"/>
            <a:ext cx="420624" cy="42062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5504688" y="1216152"/>
            <a:ext cx="3246120" cy="329184"/>
          </a:xfrm>
          <a:prstGeom prst="rect">
            <a:avLst/>
          </a:prstGeom>
          <a:noFill/>
          <a:ln/>
        </p:spPr>
        <p:txBody>
          <a:bodyPr wrap="square" lIns="0" tIns="0" rIns="0" bIns="0"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Timbre PCA</a:t>
            </a:r>
            <a:endParaRPr lang="en-US" sz="1400" dirty="0"/>
          </a:p>
        </p:txBody>
      </p:sp>
      <p:sp>
        <p:nvSpPr>
          <p:cNvPr id="16" name="Text 14"/>
          <p:cNvSpPr/>
          <p:nvPr/>
        </p:nvSpPr>
        <p:spPr>
          <a:xfrm>
            <a:off x="5504688" y="1545336"/>
            <a:ext cx="3246120" cy="219456"/>
          </a:xfrm>
          <a:prstGeom prst="rect">
            <a:avLst/>
          </a:prstGeom>
          <a:noFill/>
          <a:ln/>
        </p:spPr>
        <p:txBody>
          <a:bodyPr wrap="square" lIns="0" tIns="0" rIns="0" bIns="0" rtlCol="0" anchor="ctr"/>
          <a:lstStyle/>
          <a:p>
            <a:pPr indent="0" marL="0">
              <a:buNone/>
            </a:pPr>
            <a:r>
              <a:rPr lang="en-US" sz="950" i="1" dirty="0">
                <a:solidFill>
                  <a:srgbClr val="7B2FBE"/>
                </a:solidFill>
                <a:latin typeface="Calibri" pitchFamily="34" charset="0"/>
                <a:ea typeface="Calibri" pitchFamily="34" charset="-122"/>
                <a:cs typeface="Calibri" pitchFamily="34" charset="-120"/>
              </a:rPr>
              <a:t>Data: 5-dimensional audio spectral features</a:t>
            </a:r>
            <a:endParaRPr lang="en-US" sz="950" dirty="0"/>
          </a:p>
        </p:txBody>
      </p:sp>
      <p:sp>
        <p:nvSpPr>
          <p:cNvPr id="17" name="Text 15"/>
          <p:cNvSpPr/>
          <p:nvPr/>
        </p:nvSpPr>
        <p:spPr>
          <a:xfrm>
            <a:off x="4956048" y="1856232"/>
            <a:ext cx="3785616" cy="804672"/>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Reduces 5 timbre indicators (brightness, loudness, roughness, etc.) to a 2D scatter plot; nearby points sound more similar</a:t>
            </a:r>
            <a:endParaRPr lang="en-US" sz="1100" dirty="0"/>
          </a:p>
        </p:txBody>
      </p:sp>
      <p:sp>
        <p:nvSpPr>
          <p:cNvPr id="18" name="Shape 16"/>
          <p:cNvSpPr/>
          <p:nvPr/>
        </p:nvSpPr>
        <p:spPr>
          <a:xfrm>
            <a:off x="274320" y="2926080"/>
            <a:ext cx="4114800" cy="1737360"/>
          </a:xfrm>
          <a:prstGeom prst="rect">
            <a:avLst/>
          </a:prstGeom>
          <a:solidFill>
            <a:srgbClr val="F1F5F9"/>
          </a:solidFill>
          <a:ln w="6350">
            <a:solidFill>
              <a:srgbClr val="E2EBF4"/>
            </a:solidFill>
            <a:prstDash val="solid"/>
          </a:ln>
        </p:spPr>
      </p:sp>
      <p:sp>
        <p:nvSpPr>
          <p:cNvPr id="19" name="Shape 17"/>
          <p:cNvSpPr/>
          <p:nvPr/>
        </p:nvSpPr>
        <p:spPr>
          <a:xfrm>
            <a:off x="274320" y="2926080"/>
            <a:ext cx="64008" cy="1737360"/>
          </a:xfrm>
          <a:prstGeom prst="rect">
            <a:avLst/>
          </a:prstGeom>
          <a:solidFill>
            <a:srgbClr val="E76F51"/>
          </a:solidFill>
          <a:ln w="12700">
            <a:solidFill>
              <a:srgbClr val="E76F51"/>
            </a:solidFill>
            <a:prstDash val="solid"/>
          </a:ln>
        </p:spPr>
      </p:sp>
      <p:sp>
        <p:nvSpPr>
          <p:cNvPr id="20" name="Shape 18"/>
          <p:cNvSpPr/>
          <p:nvPr/>
        </p:nvSpPr>
        <p:spPr>
          <a:xfrm>
            <a:off x="438912" y="3127248"/>
            <a:ext cx="420624" cy="420624"/>
          </a:xfrm>
          <a:prstGeom prst="ellipse">
            <a:avLst/>
          </a:prstGeom>
          <a:solidFill>
            <a:srgbClr val="E76F51">
              <a:alpha val="75000"/>
            </a:srgbClr>
          </a:solidFill>
          <a:ln w="12700">
            <a:solidFill>
              <a:srgbClr val="E76F51"/>
            </a:solidFill>
            <a:prstDash val="solid"/>
          </a:ln>
        </p:spPr>
      </p:sp>
      <p:sp>
        <p:nvSpPr>
          <p:cNvPr id="21" name="Text 19"/>
          <p:cNvSpPr/>
          <p:nvPr/>
        </p:nvSpPr>
        <p:spPr>
          <a:xfrm>
            <a:off x="438912" y="3127248"/>
            <a:ext cx="420624" cy="42062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1024128" y="3090672"/>
            <a:ext cx="3246120" cy="329184"/>
          </a:xfrm>
          <a:prstGeom prst="rect">
            <a:avLst/>
          </a:prstGeom>
          <a:noFill/>
          <a:ln/>
        </p:spPr>
        <p:txBody>
          <a:bodyPr wrap="square" lIns="0" tIns="0" rIns="0" bIns="0"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Rhythm Bubbles</a:t>
            </a:r>
            <a:endParaRPr lang="en-US" sz="1400" dirty="0"/>
          </a:p>
        </p:txBody>
      </p:sp>
      <p:sp>
        <p:nvSpPr>
          <p:cNvPr id="23" name="Text 21"/>
          <p:cNvSpPr/>
          <p:nvPr/>
        </p:nvSpPr>
        <p:spPr>
          <a:xfrm>
            <a:off x="1024128" y="3419856"/>
            <a:ext cx="3246120" cy="219456"/>
          </a:xfrm>
          <a:prstGeom prst="rect">
            <a:avLst/>
          </a:prstGeom>
          <a:noFill/>
          <a:ln/>
        </p:spPr>
        <p:txBody>
          <a:bodyPr wrap="square" lIns="0" tIns="0" rIns="0" bIns="0" rtlCol="0" anchor="ctr"/>
          <a:lstStyle/>
          <a:p>
            <a:pPr indent="0" marL="0">
              <a:buNone/>
            </a:pPr>
            <a:r>
              <a:rPr lang="en-US" sz="950" i="1" dirty="0">
                <a:solidFill>
                  <a:srgbClr val="E76F51"/>
                </a:solidFill>
                <a:latin typeface="Calibri" pitchFamily="34" charset="0"/>
                <a:ea typeface="Calibri" pitchFamily="34" charset="-122"/>
                <a:cs typeface="Calibri" pitchFamily="34" charset="-120"/>
              </a:rPr>
              <a:t>Data: Audio onset detection + loudness envelope</a:t>
            </a:r>
            <a:endParaRPr lang="en-US" sz="950" dirty="0"/>
          </a:p>
        </p:txBody>
      </p:sp>
      <p:sp>
        <p:nvSpPr>
          <p:cNvPr id="24" name="Text 22"/>
          <p:cNvSpPr/>
          <p:nvPr/>
        </p:nvSpPr>
        <p:spPr>
          <a:xfrm>
            <a:off x="475488" y="3730752"/>
            <a:ext cx="3785616" cy="804672"/>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Each variation is one bubble; larger = higher note density and busier rhythm</a:t>
            </a:r>
            <a:endParaRPr lang="en-US" sz="1100" dirty="0"/>
          </a:p>
        </p:txBody>
      </p:sp>
      <p:sp>
        <p:nvSpPr>
          <p:cNvPr id="25" name="Shape 23"/>
          <p:cNvSpPr/>
          <p:nvPr/>
        </p:nvSpPr>
        <p:spPr>
          <a:xfrm>
            <a:off x="4754880" y="2926080"/>
            <a:ext cx="4114800" cy="1737360"/>
          </a:xfrm>
          <a:prstGeom prst="rect">
            <a:avLst/>
          </a:prstGeom>
          <a:solidFill>
            <a:srgbClr val="F1F5F9"/>
          </a:solidFill>
          <a:ln w="6350">
            <a:solidFill>
              <a:srgbClr val="E2EBF4"/>
            </a:solidFill>
            <a:prstDash val="solid"/>
          </a:ln>
        </p:spPr>
      </p:sp>
      <p:sp>
        <p:nvSpPr>
          <p:cNvPr id="26" name="Shape 24"/>
          <p:cNvSpPr/>
          <p:nvPr/>
        </p:nvSpPr>
        <p:spPr>
          <a:xfrm>
            <a:off x="4754880" y="2926080"/>
            <a:ext cx="64008" cy="1737360"/>
          </a:xfrm>
          <a:prstGeom prst="rect">
            <a:avLst/>
          </a:prstGeom>
          <a:solidFill>
            <a:srgbClr val="2DC653"/>
          </a:solidFill>
          <a:ln w="12700">
            <a:solidFill>
              <a:srgbClr val="2DC653"/>
            </a:solidFill>
            <a:prstDash val="solid"/>
          </a:ln>
        </p:spPr>
      </p:sp>
      <p:sp>
        <p:nvSpPr>
          <p:cNvPr id="27" name="Shape 25"/>
          <p:cNvSpPr/>
          <p:nvPr/>
        </p:nvSpPr>
        <p:spPr>
          <a:xfrm>
            <a:off x="4919472" y="3127248"/>
            <a:ext cx="420624" cy="420624"/>
          </a:xfrm>
          <a:prstGeom prst="ellipse">
            <a:avLst/>
          </a:prstGeom>
          <a:solidFill>
            <a:srgbClr val="2DC653">
              <a:alpha val="75000"/>
            </a:srgbClr>
          </a:solidFill>
          <a:ln w="12700">
            <a:solidFill>
              <a:srgbClr val="2DC653"/>
            </a:solidFill>
            <a:prstDash val="solid"/>
          </a:ln>
        </p:spPr>
      </p:sp>
      <p:sp>
        <p:nvSpPr>
          <p:cNvPr id="28" name="Text 26"/>
          <p:cNvSpPr/>
          <p:nvPr/>
        </p:nvSpPr>
        <p:spPr>
          <a:xfrm>
            <a:off x="4919472" y="3127248"/>
            <a:ext cx="420624" cy="42062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9" name="Text 27"/>
          <p:cNvSpPr/>
          <p:nvPr/>
        </p:nvSpPr>
        <p:spPr>
          <a:xfrm>
            <a:off x="5504688" y="3090672"/>
            <a:ext cx="3246120" cy="329184"/>
          </a:xfrm>
          <a:prstGeom prst="rect">
            <a:avLst/>
          </a:prstGeom>
          <a:noFill/>
          <a:ln/>
        </p:spPr>
        <p:txBody>
          <a:bodyPr wrap="square" lIns="0" tIns="0" rIns="0" bIns="0"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Chroma Ring</a:t>
            </a:r>
            <a:endParaRPr lang="en-US" sz="1400" dirty="0"/>
          </a:p>
        </p:txBody>
      </p:sp>
      <p:sp>
        <p:nvSpPr>
          <p:cNvPr id="30" name="Text 28"/>
          <p:cNvSpPr/>
          <p:nvPr/>
        </p:nvSpPr>
        <p:spPr>
          <a:xfrm>
            <a:off x="5504688" y="3419856"/>
            <a:ext cx="3246120" cy="219456"/>
          </a:xfrm>
          <a:prstGeom prst="rect">
            <a:avLst/>
          </a:prstGeom>
          <a:noFill/>
          <a:ln/>
        </p:spPr>
        <p:txBody>
          <a:bodyPr wrap="square" lIns="0" tIns="0" rIns="0" bIns="0" rtlCol="0" anchor="ctr"/>
          <a:lstStyle/>
          <a:p>
            <a:pPr indent="0" marL="0">
              <a:buNone/>
            </a:pPr>
            <a:r>
              <a:rPr lang="en-US" sz="950" i="1" dirty="0">
                <a:solidFill>
                  <a:srgbClr val="2DC653"/>
                </a:solidFill>
                <a:latin typeface="Calibri" pitchFamily="34" charset="0"/>
                <a:ea typeface="Calibri" pitchFamily="34" charset="-122"/>
                <a:cs typeface="Calibri" pitchFamily="34" charset="-120"/>
              </a:rPr>
              <a:t>Data: Audio chroma features (12 pitch classes)</a:t>
            </a:r>
            <a:endParaRPr lang="en-US" sz="950" dirty="0"/>
          </a:p>
        </p:txBody>
      </p:sp>
      <p:sp>
        <p:nvSpPr>
          <p:cNvPr id="31" name="Text 29"/>
          <p:cNvSpPr/>
          <p:nvPr/>
        </p:nvSpPr>
        <p:spPr>
          <a:xfrm>
            <a:off x="4956048" y="3730752"/>
            <a:ext cx="3785616" cy="804672"/>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Shows pitch-class usage in circle-of-fifths order; color maps 1:1 to pitch class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361EE"/>
          </a:solidFill>
          <a:ln w="12700">
            <a:solidFill>
              <a:srgbClr val="4361EE"/>
            </a:solidFill>
            <a:prstDash val="solid"/>
          </a:ln>
        </p:spPr>
      </p:sp>
      <p:sp>
        <p:nvSpPr>
          <p:cNvPr id="3" name="Text 1"/>
          <p:cNvSpPr/>
          <p:nvPr/>
        </p:nvSpPr>
        <p:spPr>
          <a:xfrm>
            <a:off x="182880" y="137160"/>
            <a:ext cx="420624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  Pitch Contour</a:t>
            </a:r>
            <a:endParaRPr lang="en-US" sz="2200" dirty="0"/>
          </a:p>
        </p:txBody>
      </p:sp>
      <p:sp>
        <p:nvSpPr>
          <p:cNvPr id="4" name="Text 2"/>
          <p:cNvSpPr/>
          <p:nvPr/>
        </p:nvSpPr>
        <p:spPr>
          <a:xfrm>
            <a:off x="182880" y="658368"/>
            <a:ext cx="4206240" cy="274320"/>
          </a:xfrm>
          <a:prstGeom prst="rect">
            <a:avLst/>
          </a:prstGeom>
          <a:noFill/>
          <a:ln/>
        </p:spPr>
        <p:txBody>
          <a:bodyPr wrap="square" lIns="0" tIns="0" rIns="0" bIns="0" rtlCol="0" anchor="ctr"/>
          <a:lstStyle/>
          <a:p>
            <a:pPr indent="0" marL="0">
              <a:buNone/>
            </a:pPr>
            <a:r>
              <a:rPr lang="en-US" sz="1100" i="1" dirty="0">
                <a:solidFill>
                  <a:srgbClr val="4361EE"/>
                </a:solidFill>
                <a:latin typeface="Calibri" pitchFamily="34" charset="0"/>
                <a:ea typeface="Calibri" pitchFamily="34" charset="-122"/>
                <a:cs typeface="Calibri" pitchFamily="34" charset="-120"/>
              </a:rPr>
              <a:t>Data Source · X-Axis · Y-Axis</a:t>
            </a:r>
            <a:endParaRPr lang="en-US" sz="1100" dirty="0"/>
          </a:p>
        </p:txBody>
      </p:sp>
      <p:sp>
        <p:nvSpPr>
          <p:cNvPr id="5" name="Shape 3"/>
          <p:cNvSpPr/>
          <p:nvPr/>
        </p:nvSpPr>
        <p:spPr>
          <a:xfrm>
            <a:off x="182880" y="969264"/>
            <a:ext cx="1371600" cy="201168"/>
          </a:xfrm>
          <a:prstGeom prst="rect">
            <a:avLst/>
          </a:prstGeom>
          <a:solidFill>
            <a:srgbClr val="4361EE">
              <a:alpha val="70000"/>
            </a:srgbClr>
          </a:solidFill>
          <a:ln w="12700">
            <a:solidFill>
              <a:srgbClr val="4361EE"/>
            </a:solidFill>
            <a:prstDash val="solid"/>
          </a:ln>
        </p:spPr>
      </p:sp>
      <p:sp>
        <p:nvSpPr>
          <p:cNvPr id="6" name="Text 4"/>
          <p:cNvSpPr/>
          <p:nvPr/>
        </p:nvSpPr>
        <p:spPr>
          <a:xfrm>
            <a:off x="237744" y="978408"/>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 Source</a:t>
            </a:r>
            <a:endParaRPr lang="en-US" sz="900" dirty="0"/>
          </a:p>
        </p:txBody>
      </p:sp>
      <p:sp>
        <p:nvSpPr>
          <p:cNvPr id="7" name="Text 5"/>
          <p:cNvSpPr/>
          <p:nvPr/>
        </p:nvSpPr>
        <p:spPr>
          <a:xfrm>
            <a:off x="182880" y="1188720"/>
            <a:ext cx="4069080" cy="118872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pYIN (Probabilistic YIN)</a:t>
            </a:r>
            <a:pPr indent="0" marL="0">
              <a:buNone/>
            </a:pPr>
            <a:r>
              <a:rPr lang="en-US" sz="1000" dirty="0">
                <a:solidFill>
                  <a:srgbClr val="1E293B"/>
                </a:solidFill>
                <a:latin typeface="Calibri" pitchFamily="34" charset="0"/>
                <a:ea typeface="Calibri" pitchFamily="34" charset="-122"/>
                <a:cs typeface="Calibri" pitchFamily="34" charset="-120"/>
              </a:rPr>
              <a:t> is a pitch detection algorithm. YIN estimates the fundamental frequency (F0) via a difference function; pYIN adds a probabilistic model to score candidate F0 values per frame, outputting the highest-confidence pitch sequence — more robust to octave jumps and unvoiced segments than standard YIN.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Detected per-frame F0 values are converted to a MIDI pitch sequence and arranged chronologically as the line-chart data.</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Krumhansl-Schmuckler (K-S) Algorithm</a:t>
            </a:r>
            <a:pPr indent="0" marL="0">
              <a:buNone/>
            </a:pPr>
            <a:r>
              <a:rPr lang="en-US" sz="1000" dirty="0">
                <a:solidFill>
                  <a:srgbClr val="1E293B"/>
                </a:solidFill>
                <a:latin typeface="Calibri" pitchFamily="34" charset="0"/>
                <a:ea typeface="Calibri" pitchFamily="34" charset="-122"/>
                <a:cs typeface="Calibri" pitchFamily="34" charset="-120"/>
              </a:rPr>
              <a:t> Detects the key during backend preprocessing; stores the tonic name, major/minor mode, and correlation coefficient r in JSON for the frontend.</a:t>
            </a:r>
            <a:endParaRPr lang="en-US" sz="1000" dirty="0"/>
          </a:p>
        </p:txBody>
      </p:sp>
      <p:sp>
        <p:nvSpPr>
          <p:cNvPr id="8" name="Shape 6"/>
          <p:cNvSpPr/>
          <p:nvPr/>
        </p:nvSpPr>
        <p:spPr>
          <a:xfrm>
            <a:off x="182880" y="2689592"/>
            <a:ext cx="1371600" cy="201168"/>
          </a:xfrm>
          <a:prstGeom prst="rect">
            <a:avLst/>
          </a:prstGeom>
          <a:solidFill>
            <a:srgbClr val="4361EE">
              <a:alpha val="70000"/>
            </a:srgbClr>
          </a:solidFill>
          <a:ln w="12700">
            <a:solidFill>
              <a:srgbClr val="4361EE"/>
            </a:solidFill>
            <a:prstDash val="solid"/>
          </a:ln>
        </p:spPr>
      </p:sp>
      <p:sp>
        <p:nvSpPr>
          <p:cNvPr id="9" name="Text 7"/>
          <p:cNvSpPr/>
          <p:nvPr/>
        </p:nvSpPr>
        <p:spPr>
          <a:xfrm>
            <a:off x="237744" y="2698736"/>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X-Axis</a:t>
            </a:r>
            <a:endParaRPr lang="en-US" sz="900" dirty="0"/>
          </a:p>
        </p:txBody>
      </p:sp>
      <p:sp>
        <p:nvSpPr>
          <p:cNvPr id="10" name="Text 8"/>
          <p:cNvSpPr/>
          <p:nvPr/>
        </p:nvSpPr>
        <p:spPr>
          <a:xfrm>
            <a:off x="182880" y="2909048"/>
            <a:ext cx="4069080" cy="694944"/>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Uniform stretch/compress: X coordinate of point i = i ÷ (N−1) × width. Regardless of variation length or point count, the line always spans 0%–100%, so the X-axis represents "percentage of duration" rather than absolute time. A 30-beat and a 60-beat variation occupy the same width; they differ only in point density.</a:t>
            </a:r>
            <a:endParaRPr lang="en-US" sz="1000" dirty="0"/>
          </a:p>
        </p:txBody>
      </p:sp>
      <p:sp>
        <p:nvSpPr>
          <p:cNvPr id="11" name="Shape 9"/>
          <p:cNvSpPr/>
          <p:nvPr/>
        </p:nvSpPr>
        <p:spPr>
          <a:xfrm>
            <a:off x="182880" y="3916144"/>
            <a:ext cx="1371600" cy="201168"/>
          </a:xfrm>
          <a:prstGeom prst="rect">
            <a:avLst/>
          </a:prstGeom>
          <a:solidFill>
            <a:srgbClr val="4361EE">
              <a:alpha val="70000"/>
            </a:srgbClr>
          </a:solidFill>
          <a:ln w="12700">
            <a:solidFill>
              <a:srgbClr val="4361EE"/>
            </a:solidFill>
            <a:prstDash val="solid"/>
          </a:ln>
        </p:spPr>
      </p:sp>
      <p:sp>
        <p:nvSpPr>
          <p:cNvPr id="12" name="Text 10"/>
          <p:cNvSpPr/>
          <p:nvPr/>
        </p:nvSpPr>
        <p:spPr>
          <a:xfrm>
            <a:off x="237744" y="3925288"/>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Y-Axis</a:t>
            </a:r>
            <a:endParaRPr lang="en-US" sz="900" dirty="0"/>
          </a:p>
        </p:txBody>
      </p:sp>
      <p:sp>
        <p:nvSpPr>
          <p:cNvPr id="13" name="Text 11"/>
          <p:cNvSpPr/>
          <p:nvPr/>
        </p:nvSpPr>
        <p:spPr>
          <a:xfrm>
            <a:off x="182880" y="4135600"/>
            <a:ext cx="4069080" cy="9144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With K-S data (relative mode):</a:t>
            </a:r>
            <a:pPr indent="0" marL="0">
              <a:buNone/>
            </a:pPr>
            <a:r>
              <a:rPr lang="en-US" sz="1000" dirty="0">
                <a:solidFill>
                  <a:srgbClr val="1E293B"/>
                </a:solidFill>
                <a:latin typeface="Calibri" pitchFamily="34" charset="0"/>
                <a:ea typeface="Calibri" pitchFamily="34" charset="-122"/>
                <a:cs typeface="Calibri" pitchFamily="34" charset="-120"/>
              </a:rPr>
              <a:t> Fixed range: −5 to +24 semitones (a perfect fourth below the tonic to two octaves above).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All variations share the same scale, enabling direct pitch-range comparison.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Labels: T = tonic, P5 = perfect fifth, 8va = one octave up, 15va = two octaves up.</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Without K-S data (absolute mode):</a:t>
            </a:r>
            <a:pPr indent="0" marL="0">
              <a:buNone/>
            </a:pPr>
            <a:r>
              <a:rPr lang="en-US" sz="1000" dirty="0">
                <a:solidFill>
                  <a:srgbClr val="1E293B"/>
                </a:solidFill>
                <a:latin typeface="Calibri" pitchFamily="34" charset="0"/>
                <a:ea typeface="Calibri" pitchFamily="34" charset="-122"/>
                <a:cs typeface="Calibri" pitchFamily="34" charset="-120"/>
              </a:rPr>
              <a:t> Uses the 5th–95th percentile MIDI values of the segment, minimum span of 14 semitones, plus a 10% margin.</a:t>
            </a:r>
            <a:endParaRPr lang="en-US" sz="1000" dirty="0"/>
          </a:p>
        </p:txBody>
      </p:sp>
      <p:sp>
        <p:nvSpPr>
          <p:cNvPr id="14" name="Shape 12"/>
          <p:cNvSpPr/>
          <p:nvPr/>
        </p:nvSpPr>
        <p:spPr>
          <a:xfrm>
            <a:off x="4343400" y="749808"/>
            <a:ext cx="4617720" cy="4206240"/>
          </a:xfrm>
          <a:prstGeom prst="rect">
            <a:avLst/>
          </a:prstGeom>
          <a:solidFill>
            <a:srgbClr val="F1F5F9"/>
          </a:solidFill>
          <a:ln w="12700">
            <a:solidFill>
              <a:srgbClr val="94A3B8"/>
            </a:solidFill>
            <a:prstDash val="dash"/>
          </a:ln>
        </p:spPr>
      </p:sp>
      <p:sp>
        <p:nvSpPr>
          <p:cNvPr id="15" name="Text 13"/>
          <p:cNvSpPr/>
          <p:nvPr/>
        </p:nvSpPr>
        <p:spPr>
          <a:xfrm>
            <a:off x="4343400" y="2560320"/>
            <a:ext cx="46177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Screenshot Area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361EE"/>
          </a:solidFill>
          <a:ln w="12700">
            <a:solidFill>
              <a:srgbClr val="4361EE"/>
            </a:solidFill>
            <a:prstDash val="solid"/>
          </a:ln>
        </p:spPr>
      </p:sp>
      <p:sp>
        <p:nvSpPr>
          <p:cNvPr id="3" name="Text 1"/>
          <p:cNvSpPr/>
          <p:nvPr/>
        </p:nvSpPr>
        <p:spPr>
          <a:xfrm>
            <a:off x="182880" y="137160"/>
            <a:ext cx="420624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  Pitch Contour</a:t>
            </a:r>
            <a:endParaRPr lang="en-US" sz="2200" dirty="0"/>
          </a:p>
        </p:txBody>
      </p:sp>
      <p:sp>
        <p:nvSpPr>
          <p:cNvPr id="4" name="Text 2"/>
          <p:cNvSpPr/>
          <p:nvPr/>
        </p:nvSpPr>
        <p:spPr>
          <a:xfrm>
            <a:off x="182880" y="658368"/>
            <a:ext cx="4206240" cy="274320"/>
          </a:xfrm>
          <a:prstGeom prst="rect">
            <a:avLst/>
          </a:prstGeom>
          <a:noFill/>
          <a:ln/>
        </p:spPr>
        <p:txBody>
          <a:bodyPr wrap="square" lIns="0" tIns="0" rIns="0" bIns="0" rtlCol="0" anchor="ctr"/>
          <a:lstStyle/>
          <a:p>
            <a:pPr indent="0" marL="0">
              <a:buNone/>
            </a:pPr>
            <a:r>
              <a:rPr lang="en-US" sz="1100" i="1" dirty="0">
                <a:solidFill>
                  <a:srgbClr val="4361EE"/>
                </a:solidFill>
                <a:latin typeface="Calibri" pitchFamily="34" charset="0"/>
                <a:ea typeface="Calibri" pitchFamily="34" charset="-122"/>
                <a:cs typeface="Calibri" pitchFamily="34" charset="-120"/>
              </a:rPr>
              <a:t>Out-of-Range Notes</a:t>
            </a:r>
            <a:endParaRPr lang="en-US" sz="1100" dirty="0"/>
          </a:p>
        </p:txBody>
      </p:sp>
      <p:sp>
        <p:nvSpPr>
          <p:cNvPr id="5" name="Shape 3"/>
          <p:cNvSpPr/>
          <p:nvPr/>
        </p:nvSpPr>
        <p:spPr>
          <a:xfrm>
            <a:off x="182880" y="2425446"/>
            <a:ext cx="1371600" cy="201168"/>
          </a:xfrm>
          <a:prstGeom prst="rect">
            <a:avLst/>
          </a:prstGeom>
          <a:solidFill>
            <a:srgbClr val="64748B">
              <a:alpha val="70000"/>
            </a:srgbClr>
          </a:solidFill>
          <a:ln w="12700">
            <a:solidFill>
              <a:srgbClr val="64748B"/>
            </a:solidFill>
            <a:prstDash val="solid"/>
          </a:ln>
        </p:spPr>
      </p:sp>
      <p:sp>
        <p:nvSpPr>
          <p:cNvPr id="6" name="Text 4"/>
          <p:cNvSpPr/>
          <p:nvPr/>
        </p:nvSpPr>
        <p:spPr>
          <a:xfrm>
            <a:off x="237744" y="2434590"/>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Out-of-Range Notes</a:t>
            </a:r>
            <a:endParaRPr lang="en-US" sz="900" dirty="0"/>
          </a:p>
        </p:txBody>
      </p:sp>
      <p:sp>
        <p:nvSpPr>
          <p:cNvPr id="7" name="Text 5"/>
          <p:cNvSpPr/>
          <p:nvPr/>
        </p:nvSpPr>
        <p:spPr>
          <a:xfrm>
            <a:off x="182880" y="2644902"/>
            <a:ext cx="4069080" cy="10058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Notes outside the Y-axis range are clamped to the boundary — those below the minimum are drawn at the bottom, those above the maximum at the top, never overflowing the chart frame. However, this means it is impossible to distinguish "1 semitone out of range" from "10 semitones out of range" — they look identical on the chart.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The fixed range in relative mode (−5 to +24) covers the vast majority of classical melodies, so clamping rarely occurs in practice.</a:t>
            </a:r>
            <a:endParaRPr lang="en-US" sz="1000" dirty="0"/>
          </a:p>
        </p:txBody>
      </p:sp>
      <p:sp>
        <p:nvSpPr>
          <p:cNvPr id="11" name="Shape 9"/>
          <p:cNvSpPr/>
          <p:nvPr/>
        </p:nvSpPr>
        <p:spPr>
          <a:xfrm>
            <a:off x="4343400" y="749808"/>
            <a:ext cx="4617720" cy="4206240"/>
          </a:xfrm>
          <a:prstGeom prst="rect">
            <a:avLst/>
          </a:prstGeom>
          <a:solidFill>
            <a:srgbClr val="F1F5F9"/>
          </a:solidFill>
          <a:ln w="12700">
            <a:solidFill>
              <a:srgbClr val="94A3B8"/>
            </a:solidFill>
            <a:prstDash val="dash"/>
          </a:ln>
        </p:spPr>
      </p:sp>
      <p:sp>
        <p:nvSpPr>
          <p:cNvPr id="12" name="Text 10"/>
          <p:cNvSpPr/>
          <p:nvPr/>
        </p:nvSpPr>
        <p:spPr>
          <a:xfrm>
            <a:off x="4343400" y="2560320"/>
            <a:ext cx="46177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Screenshot Area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7B2FBE"/>
          </a:solidFill>
          <a:ln w="12700">
            <a:solidFill>
              <a:srgbClr val="7B2FBE"/>
            </a:solidFill>
            <a:prstDash val="solid"/>
          </a:ln>
        </p:spPr>
      </p:sp>
      <p:sp>
        <p:nvSpPr>
          <p:cNvPr id="3" name="Text 1"/>
          <p:cNvSpPr/>
          <p:nvPr/>
        </p:nvSpPr>
        <p:spPr>
          <a:xfrm>
            <a:off x="182880" y="137160"/>
            <a:ext cx="420624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  Timbre PCA</a:t>
            </a:r>
            <a:endParaRPr lang="en-US" sz="2200" dirty="0"/>
          </a:p>
        </p:txBody>
      </p:sp>
      <p:sp>
        <p:nvSpPr>
          <p:cNvPr id="4" name="Text 2"/>
          <p:cNvSpPr/>
          <p:nvPr/>
        </p:nvSpPr>
        <p:spPr>
          <a:xfrm>
            <a:off x="182880" y="658368"/>
            <a:ext cx="4206240" cy="274320"/>
          </a:xfrm>
          <a:prstGeom prst="rect">
            <a:avLst/>
          </a:prstGeom>
          <a:noFill/>
          <a:ln/>
        </p:spPr>
        <p:txBody>
          <a:bodyPr wrap="square" lIns="0" tIns="0" rIns="0" bIns="0" rtlCol="0" anchor="ctr"/>
          <a:lstStyle/>
          <a:p>
            <a:pPr indent="0" marL="0">
              <a:buNone/>
            </a:pPr>
            <a:r>
              <a:rPr lang="en-US" sz="1100" i="1" dirty="0">
                <a:solidFill>
                  <a:srgbClr val="7B2FBE"/>
                </a:solidFill>
                <a:latin typeface="Calibri" pitchFamily="34" charset="0"/>
                <a:ea typeface="Calibri" pitchFamily="34" charset="-122"/>
                <a:cs typeface="Calibri" pitchFamily="34" charset="-120"/>
              </a:rPr>
              <a:t>Principal Component Analysis of Timbre Features</a:t>
            </a:r>
            <a:endParaRPr lang="en-US" sz="1100" dirty="0"/>
          </a:p>
        </p:txBody>
      </p:sp>
      <p:sp>
        <p:nvSpPr>
          <p:cNvPr id="5" name="Shape 3"/>
          <p:cNvSpPr/>
          <p:nvPr/>
        </p:nvSpPr>
        <p:spPr>
          <a:xfrm>
            <a:off x="182880" y="1005840"/>
            <a:ext cx="1371600" cy="201168"/>
          </a:xfrm>
          <a:prstGeom prst="rect">
            <a:avLst/>
          </a:prstGeom>
          <a:solidFill>
            <a:srgbClr val="7B2FBE">
              <a:alpha val="70000"/>
            </a:srgbClr>
          </a:solidFill>
          <a:ln w="12700">
            <a:solidFill>
              <a:srgbClr val="7B2FBE"/>
            </a:solidFill>
            <a:prstDash val="solid"/>
          </a:ln>
        </p:spPr>
      </p:sp>
      <p:sp>
        <p:nvSpPr>
          <p:cNvPr id="6" name="Text 4"/>
          <p:cNvSpPr/>
          <p:nvPr/>
        </p:nvSpPr>
        <p:spPr>
          <a:xfrm>
            <a:off x="237744" y="1014984"/>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 Source</a:t>
            </a:r>
            <a:endParaRPr lang="en-US" sz="900" dirty="0"/>
          </a:p>
        </p:txBody>
      </p:sp>
      <p:sp>
        <p:nvSpPr>
          <p:cNvPr id="7" name="Text 5"/>
          <p:cNvSpPr/>
          <p:nvPr/>
        </p:nvSpPr>
        <p:spPr>
          <a:xfrm>
            <a:off x="182880" y="1261872"/>
            <a:ext cx="4114800" cy="2743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5 audio spectral features (computed independently per segment)</a:t>
            </a:r>
            <a:endParaRPr lang="en-US" sz="1100" dirty="0"/>
          </a:p>
        </p:txBody>
      </p:sp>
      <p:sp>
        <p:nvSpPr>
          <p:cNvPr id="8" name="Shape 6"/>
          <p:cNvSpPr/>
          <p:nvPr/>
        </p:nvSpPr>
        <p:spPr>
          <a:xfrm>
            <a:off x="182880" y="1600200"/>
            <a:ext cx="91440" cy="329184"/>
          </a:xfrm>
          <a:prstGeom prst="rect">
            <a:avLst/>
          </a:prstGeom>
          <a:solidFill>
            <a:srgbClr val="F4C430"/>
          </a:solidFill>
          <a:ln w="12700">
            <a:solidFill>
              <a:srgbClr val="F4C430"/>
            </a:solidFill>
            <a:prstDash val="solid"/>
          </a:ln>
        </p:spPr>
      </p:sp>
      <p:sp>
        <p:nvSpPr>
          <p:cNvPr id="9" name="Text 7"/>
          <p:cNvSpPr/>
          <p:nvPr/>
        </p:nvSpPr>
        <p:spPr>
          <a:xfrm>
            <a:off x="329184" y="1600200"/>
            <a:ext cx="1188720" cy="182880"/>
          </a:xfrm>
          <a:prstGeom prst="rect">
            <a:avLst/>
          </a:prstGeom>
          <a:noFill/>
          <a:ln/>
        </p:spPr>
        <p:txBody>
          <a:bodyPr wrap="square" lIns="0" tIns="0" rIns="0" bIns="0" rtlCol="0" anchor="ctr"/>
          <a:lstStyle/>
          <a:p>
            <a:pPr indent="0" marL="0">
              <a:buNone/>
            </a:pPr>
            <a:r>
              <a:rPr lang="en-US" sz="1050" b="1" dirty="0">
                <a:solidFill>
                  <a:srgbClr val="F4C430"/>
                </a:solidFill>
                <a:latin typeface="Calibri" pitchFamily="34" charset="0"/>
                <a:ea typeface="Calibri" pitchFamily="34" charset="-122"/>
                <a:cs typeface="Calibri" pitchFamily="34" charset="-120"/>
              </a:rPr>
              <a:t>Bright</a:t>
            </a:r>
            <a:endParaRPr lang="en-US" sz="1050" dirty="0"/>
          </a:p>
        </p:txBody>
      </p:sp>
      <p:sp>
        <p:nvSpPr>
          <p:cNvPr id="10" name="Text 8"/>
          <p:cNvSpPr/>
          <p:nvPr/>
        </p:nvSpPr>
        <p:spPr>
          <a:xfrm>
            <a:off x="329184" y="1773936"/>
            <a:ext cx="3931920" cy="1554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High-frequency-rich → bright &amp; piercing; sparse → warm &amp; mellow</a:t>
            </a:r>
            <a:endParaRPr lang="en-US" sz="1000" dirty="0"/>
          </a:p>
        </p:txBody>
      </p:sp>
      <p:sp>
        <p:nvSpPr>
          <p:cNvPr id="11" name="Shape 9"/>
          <p:cNvSpPr/>
          <p:nvPr/>
        </p:nvSpPr>
        <p:spPr>
          <a:xfrm>
            <a:off x="182880" y="2185416"/>
            <a:ext cx="91440" cy="329184"/>
          </a:xfrm>
          <a:prstGeom prst="rect">
            <a:avLst/>
          </a:prstGeom>
          <a:solidFill>
            <a:srgbClr val="FF9A3C"/>
          </a:solidFill>
          <a:ln w="12700">
            <a:solidFill>
              <a:srgbClr val="FF9A3C"/>
            </a:solidFill>
            <a:prstDash val="solid"/>
          </a:ln>
        </p:spPr>
      </p:sp>
      <p:sp>
        <p:nvSpPr>
          <p:cNvPr id="12" name="Text 10"/>
          <p:cNvSpPr/>
          <p:nvPr/>
        </p:nvSpPr>
        <p:spPr>
          <a:xfrm>
            <a:off x="329184" y="2185416"/>
            <a:ext cx="1188720" cy="182880"/>
          </a:xfrm>
          <a:prstGeom prst="rect">
            <a:avLst/>
          </a:prstGeom>
          <a:noFill/>
          <a:ln/>
        </p:spPr>
        <p:txBody>
          <a:bodyPr wrap="square" lIns="0" tIns="0" rIns="0" bIns="0" rtlCol="0" anchor="ctr"/>
          <a:lstStyle/>
          <a:p>
            <a:pPr indent="0" marL="0">
              <a:buNone/>
            </a:pPr>
            <a:r>
              <a:rPr lang="en-US" sz="1050" b="1" dirty="0">
                <a:solidFill>
                  <a:srgbClr val="FF9A3C"/>
                </a:solidFill>
                <a:latin typeface="Calibri" pitchFamily="34" charset="0"/>
                <a:ea typeface="Calibri" pitchFamily="34" charset="-122"/>
                <a:cs typeface="Calibri" pitchFamily="34" charset="-120"/>
              </a:rPr>
              <a:t>Loud</a:t>
            </a:r>
            <a:endParaRPr lang="en-US" sz="1050" dirty="0"/>
          </a:p>
        </p:txBody>
      </p:sp>
      <p:sp>
        <p:nvSpPr>
          <p:cNvPr id="13" name="Text 11"/>
          <p:cNvSpPr/>
          <p:nvPr/>
        </p:nvSpPr>
        <p:spPr>
          <a:xfrm>
            <a:off x="329184" y="2359152"/>
            <a:ext cx="3931920" cy="1554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Average loudness level; higher in forte variations</a:t>
            </a:r>
            <a:endParaRPr lang="en-US" sz="1000" dirty="0"/>
          </a:p>
        </p:txBody>
      </p:sp>
      <p:sp>
        <p:nvSpPr>
          <p:cNvPr id="14" name="Shape 12"/>
          <p:cNvSpPr/>
          <p:nvPr/>
        </p:nvSpPr>
        <p:spPr>
          <a:xfrm>
            <a:off x="182880" y="2770632"/>
            <a:ext cx="91440" cy="329184"/>
          </a:xfrm>
          <a:prstGeom prst="rect">
            <a:avLst/>
          </a:prstGeom>
          <a:solidFill>
            <a:srgbClr val="E63946"/>
          </a:solidFill>
          <a:ln w="12700">
            <a:solidFill>
              <a:srgbClr val="E63946"/>
            </a:solidFill>
            <a:prstDash val="solid"/>
          </a:ln>
        </p:spPr>
      </p:sp>
      <p:sp>
        <p:nvSpPr>
          <p:cNvPr id="15" name="Text 13"/>
          <p:cNvSpPr/>
          <p:nvPr/>
        </p:nvSpPr>
        <p:spPr>
          <a:xfrm>
            <a:off x="329184" y="2770632"/>
            <a:ext cx="1188720" cy="182880"/>
          </a:xfrm>
          <a:prstGeom prst="rect">
            <a:avLst/>
          </a:prstGeom>
          <a:noFill/>
          <a:ln/>
        </p:spPr>
        <p:txBody>
          <a:bodyPr wrap="square" lIns="0" tIns="0" rIns="0" bIns="0" rtlCol="0" anchor="ctr"/>
          <a:lstStyle/>
          <a:p>
            <a:pPr indent="0" marL="0">
              <a:buNone/>
            </a:pPr>
            <a:r>
              <a:rPr lang="en-US" sz="1050" b="1" dirty="0">
                <a:solidFill>
                  <a:srgbClr val="E63946"/>
                </a:solidFill>
                <a:latin typeface="Calibri" pitchFamily="34" charset="0"/>
                <a:ea typeface="Calibri" pitchFamily="34" charset="-122"/>
                <a:cs typeface="Calibri" pitchFamily="34" charset="-120"/>
              </a:rPr>
              <a:t>Rough</a:t>
            </a:r>
            <a:endParaRPr lang="en-US" sz="1050" dirty="0"/>
          </a:p>
        </p:txBody>
      </p:sp>
      <p:sp>
        <p:nvSpPr>
          <p:cNvPr id="16" name="Text 14"/>
          <p:cNvSpPr/>
          <p:nvPr/>
        </p:nvSpPr>
        <p:spPr>
          <a:xfrm>
            <a:off x="329184" y="2944368"/>
            <a:ext cx="3931920" cy="1554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Frequent zero-crossings → noisy texture; sparse → smooth</a:t>
            </a:r>
            <a:endParaRPr lang="en-US" sz="1000" dirty="0"/>
          </a:p>
        </p:txBody>
      </p:sp>
      <p:sp>
        <p:nvSpPr>
          <p:cNvPr id="17" name="Shape 15"/>
          <p:cNvSpPr/>
          <p:nvPr/>
        </p:nvSpPr>
        <p:spPr>
          <a:xfrm>
            <a:off x="182880" y="3355848"/>
            <a:ext cx="91440" cy="329184"/>
          </a:xfrm>
          <a:prstGeom prst="rect">
            <a:avLst/>
          </a:prstGeom>
          <a:solidFill>
            <a:srgbClr val="4CC9F0"/>
          </a:solidFill>
          <a:ln w="12700">
            <a:solidFill>
              <a:srgbClr val="4CC9F0"/>
            </a:solidFill>
            <a:prstDash val="solid"/>
          </a:ln>
        </p:spPr>
      </p:sp>
      <p:sp>
        <p:nvSpPr>
          <p:cNvPr id="18" name="Text 16"/>
          <p:cNvSpPr/>
          <p:nvPr/>
        </p:nvSpPr>
        <p:spPr>
          <a:xfrm>
            <a:off x="329184" y="3355848"/>
            <a:ext cx="1188720" cy="182880"/>
          </a:xfrm>
          <a:prstGeom prst="rect">
            <a:avLst/>
          </a:prstGeom>
          <a:noFill/>
          <a:ln/>
        </p:spPr>
        <p:txBody>
          <a:bodyPr wrap="square" lIns="0" tIns="0" rIns="0" bIns="0" rtlCol="0" anchor="ctr"/>
          <a:lstStyle/>
          <a:p>
            <a:pPr indent="0" marL="0">
              <a:buNone/>
            </a:pPr>
            <a:r>
              <a:rPr lang="en-US" sz="1050" b="1" dirty="0">
                <a:solidFill>
                  <a:srgbClr val="4CC9F0"/>
                </a:solidFill>
                <a:latin typeface="Calibri" pitchFamily="34" charset="0"/>
                <a:ea typeface="Calibri" pitchFamily="34" charset="-122"/>
                <a:cs typeface="Calibri" pitchFamily="34" charset="-120"/>
              </a:rPr>
              <a:t>Tonal</a:t>
            </a:r>
            <a:endParaRPr lang="en-US" sz="1050" dirty="0"/>
          </a:p>
        </p:txBody>
      </p:sp>
      <p:sp>
        <p:nvSpPr>
          <p:cNvPr id="19" name="Text 17"/>
          <p:cNvSpPr/>
          <p:nvPr/>
        </p:nvSpPr>
        <p:spPr>
          <a:xfrm>
            <a:off x="329184" y="3529584"/>
            <a:ext cx="3931920" cy="1554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Near pure tone → strong tonality; near noise → weak</a:t>
            </a:r>
            <a:endParaRPr lang="en-US" sz="1000" dirty="0"/>
          </a:p>
        </p:txBody>
      </p:sp>
      <p:sp>
        <p:nvSpPr>
          <p:cNvPr id="20" name="Shape 18"/>
          <p:cNvSpPr/>
          <p:nvPr/>
        </p:nvSpPr>
        <p:spPr>
          <a:xfrm>
            <a:off x="182880" y="3941064"/>
            <a:ext cx="91440" cy="329184"/>
          </a:xfrm>
          <a:prstGeom prst="rect">
            <a:avLst/>
          </a:prstGeom>
          <a:solidFill>
            <a:srgbClr val="7209B7"/>
          </a:solidFill>
          <a:ln w="12700">
            <a:solidFill>
              <a:srgbClr val="7209B7"/>
            </a:solidFill>
            <a:prstDash val="solid"/>
          </a:ln>
        </p:spPr>
      </p:sp>
      <p:sp>
        <p:nvSpPr>
          <p:cNvPr id="21" name="Text 19"/>
          <p:cNvSpPr/>
          <p:nvPr/>
        </p:nvSpPr>
        <p:spPr>
          <a:xfrm>
            <a:off x="329184" y="3941064"/>
            <a:ext cx="1188720" cy="182880"/>
          </a:xfrm>
          <a:prstGeom prst="rect">
            <a:avLst/>
          </a:prstGeom>
          <a:noFill/>
          <a:ln/>
        </p:spPr>
        <p:txBody>
          <a:bodyPr wrap="square" lIns="0" tIns="0" rIns="0" bIns="0" rtlCol="0" anchor="ctr"/>
          <a:lstStyle/>
          <a:p>
            <a:pPr indent="0" marL="0">
              <a:buNone/>
            </a:pPr>
            <a:r>
              <a:rPr lang="en-US" sz="1050" b="1" dirty="0">
                <a:solidFill>
                  <a:srgbClr val="7209B7"/>
                </a:solidFill>
                <a:latin typeface="Calibri" pitchFamily="34" charset="0"/>
                <a:ea typeface="Calibri" pitchFamily="34" charset="-122"/>
                <a:cs typeface="Calibri" pitchFamily="34" charset="-120"/>
              </a:rPr>
              <a:t>Harm</a:t>
            </a:r>
            <a:endParaRPr lang="en-US" sz="1050" dirty="0"/>
          </a:p>
        </p:txBody>
      </p:sp>
      <p:sp>
        <p:nvSpPr>
          <p:cNvPr id="22" name="Text 20"/>
          <p:cNvSpPr/>
          <p:nvPr/>
        </p:nvSpPr>
        <p:spPr>
          <a:xfrm>
            <a:off x="329184" y="4114800"/>
            <a:ext cx="3931920" cy="15544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High harmonic contrast → instrument timbre is rich and layered</a:t>
            </a:r>
            <a:endParaRPr lang="en-US" sz="1000" dirty="0"/>
          </a:p>
        </p:txBody>
      </p:sp>
      <p:sp>
        <p:nvSpPr>
          <p:cNvPr id="23" name="Shape 21"/>
          <p:cNvSpPr/>
          <p:nvPr/>
        </p:nvSpPr>
        <p:spPr>
          <a:xfrm>
            <a:off x="4343400" y="749808"/>
            <a:ext cx="4572000" cy="4206240"/>
          </a:xfrm>
          <a:prstGeom prst="rect">
            <a:avLst/>
          </a:prstGeom>
          <a:solidFill>
            <a:srgbClr val="F1F5F9"/>
          </a:solidFill>
          <a:ln w="12700">
            <a:solidFill>
              <a:srgbClr val="94A3B8"/>
            </a:solidFill>
            <a:prstDash val="dash"/>
          </a:ln>
        </p:spPr>
      </p:sp>
      <p:sp>
        <p:nvSpPr>
          <p:cNvPr id="24" name="Text 22"/>
          <p:cNvSpPr/>
          <p:nvPr/>
        </p:nvSpPr>
        <p:spPr>
          <a:xfrm>
            <a:off x="4343400" y="2560320"/>
            <a:ext cx="457200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Screenshot Area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7B2FBE"/>
          </a:solidFill>
          <a:ln w="12700">
            <a:solidFill>
              <a:srgbClr val="7B2FBE"/>
            </a:solidFill>
            <a:prstDash val="solid"/>
          </a:ln>
        </p:spPr>
      </p:sp>
      <p:sp>
        <p:nvSpPr>
          <p:cNvPr id="3" name="Text 1"/>
          <p:cNvSpPr/>
          <p:nvPr/>
        </p:nvSpPr>
        <p:spPr>
          <a:xfrm>
            <a:off x="182880" y="137160"/>
            <a:ext cx="420624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  Timbre PCA</a:t>
            </a:r>
            <a:endParaRPr lang="en-US" sz="2200" dirty="0"/>
          </a:p>
        </p:txBody>
      </p:sp>
      <p:sp>
        <p:nvSpPr>
          <p:cNvPr id="4" name="Text 2"/>
          <p:cNvSpPr/>
          <p:nvPr/>
        </p:nvSpPr>
        <p:spPr>
          <a:xfrm>
            <a:off x="182880" y="658368"/>
            <a:ext cx="4206240" cy="274320"/>
          </a:xfrm>
          <a:prstGeom prst="rect">
            <a:avLst/>
          </a:prstGeom>
          <a:noFill/>
          <a:ln/>
        </p:spPr>
        <p:txBody>
          <a:bodyPr wrap="square" lIns="0" tIns="0" rIns="0" bIns="0" rtlCol="0" anchor="ctr"/>
          <a:lstStyle/>
          <a:p>
            <a:pPr indent="0" marL="0">
              <a:buNone/>
            </a:pPr>
            <a:r>
              <a:rPr lang="en-US" sz="1100" i="1" dirty="0">
                <a:solidFill>
                  <a:srgbClr val="7B2FBE"/>
                </a:solidFill>
                <a:latin typeface="Calibri" pitchFamily="34" charset="0"/>
                <a:ea typeface="Calibri" pitchFamily="34" charset="-122"/>
                <a:cs typeface="Calibri" pitchFamily="34" charset="-120"/>
              </a:rPr>
              <a:t>How the Scatter Plot Is Built · Arrow Meanings</a:t>
            </a:r>
            <a:endParaRPr lang="en-US" sz="1100" dirty="0"/>
          </a:p>
        </p:txBody>
      </p:sp>
      <p:sp>
        <p:nvSpPr>
          <p:cNvPr id="5" name="Shape 3"/>
          <p:cNvSpPr/>
          <p:nvPr/>
        </p:nvSpPr>
        <p:spPr>
          <a:xfrm>
            <a:off x="182880" y="969264"/>
            <a:ext cx="1371600" cy="201168"/>
          </a:xfrm>
          <a:prstGeom prst="rect">
            <a:avLst/>
          </a:prstGeom>
          <a:solidFill>
            <a:srgbClr val="7B2FBE">
              <a:alpha val="70000"/>
            </a:srgbClr>
          </a:solidFill>
          <a:ln w="12700">
            <a:solidFill>
              <a:srgbClr val="7B2FBE"/>
            </a:solidFill>
            <a:prstDash val="solid"/>
          </a:ln>
        </p:spPr>
      </p:sp>
      <p:sp>
        <p:nvSpPr>
          <p:cNvPr id="6" name="Text 4"/>
          <p:cNvSpPr/>
          <p:nvPr/>
        </p:nvSpPr>
        <p:spPr>
          <a:xfrm>
            <a:off x="237744" y="978408"/>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How the Scatter Plot Is Built</a:t>
            </a:r>
            <a:endParaRPr lang="en-US" sz="900" dirty="0"/>
          </a:p>
        </p:txBody>
      </p:sp>
      <p:sp>
        <p:nvSpPr>
          <p:cNvPr id="7" name="Text 5"/>
          <p:cNvSpPr/>
          <p:nvPr/>
        </p:nvSpPr>
        <p:spPr>
          <a:xfrm>
            <a:off x="182880" y="1188720"/>
            <a:ext cx="8732520" cy="58521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Each variation has 5 timbre features, forming a point in 5D space. PCA finds the two directions of greatest variance, used as the X-axis (PC1) and Y-axis (PC2). Projecting each variation onto this plane gives the scatter plot. PC1 accounts for 44.4% of total variance, PC2 for 25.1% — together about 70% of all timbre variation is visible in the chart.</a:t>
            </a:r>
            <a:endParaRPr lang="en-US" sz="1050" dirty="0"/>
          </a:p>
        </p:txBody>
      </p:sp>
      <p:sp>
        <p:nvSpPr>
          <p:cNvPr id="8" name="Shape 6"/>
          <p:cNvSpPr/>
          <p:nvPr/>
        </p:nvSpPr>
        <p:spPr>
          <a:xfrm>
            <a:off x="182880" y="1874520"/>
            <a:ext cx="1371600" cy="201168"/>
          </a:xfrm>
          <a:prstGeom prst="rect">
            <a:avLst/>
          </a:prstGeom>
          <a:solidFill>
            <a:srgbClr val="7B2FBE">
              <a:alpha val="70000"/>
            </a:srgbClr>
          </a:solidFill>
          <a:ln w="12700">
            <a:solidFill>
              <a:srgbClr val="7B2FBE"/>
            </a:solidFill>
            <a:prstDash val="solid"/>
          </a:ln>
        </p:spPr>
      </p:sp>
      <p:sp>
        <p:nvSpPr>
          <p:cNvPr id="9" name="Text 7"/>
          <p:cNvSpPr/>
          <p:nvPr/>
        </p:nvSpPr>
        <p:spPr>
          <a:xfrm>
            <a:off x="237744" y="1883664"/>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Arrow Meanings</a:t>
            </a:r>
            <a:endParaRPr lang="en-US" sz="900" dirty="0"/>
          </a:p>
        </p:txBody>
      </p:sp>
      <p:sp>
        <p:nvSpPr>
          <p:cNvPr id="10" name="Text 8"/>
          <p:cNvSpPr/>
          <p:nvPr/>
        </p:nvSpPr>
        <p:spPr>
          <a:xfrm>
            <a:off x="182880" y="2093976"/>
            <a:ext cx="8732520" cy="47548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Each arrow shows the direction a feature "pulls" a variation. An arrow represents a timbre feature's projection direction onto the 2D plane — increasing that feature's value moves the variation's dot in the arrow's direction.</a:t>
            </a:r>
            <a:endParaRPr lang="en-US" sz="1050" dirty="0"/>
          </a:p>
        </p:txBody>
      </p:sp>
      <p:sp>
        <p:nvSpPr>
          <p:cNvPr id="11" name="Shape 9"/>
          <p:cNvSpPr/>
          <p:nvPr/>
        </p:nvSpPr>
        <p:spPr>
          <a:xfrm>
            <a:off x="182880" y="2670048"/>
            <a:ext cx="8732520" cy="0"/>
          </a:xfrm>
          <a:prstGeom prst="line">
            <a:avLst/>
          </a:prstGeom>
          <a:noFill/>
          <a:ln w="9525">
            <a:solidFill>
              <a:srgbClr val="E2EBF4"/>
            </a:solidFill>
            <a:prstDash val="solid"/>
          </a:ln>
        </p:spPr>
      </p:sp>
      <p:sp>
        <p:nvSpPr>
          <p:cNvPr id="12" name="Text 10"/>
          <p:cNvSpPr/>
          <p:nvPr/>
        </p:nvSpPr>
        <p:spPr>
          <a:xfrm>
            <a:off x="182880" y="2743200"/>
            <a:ext cx="4160520" cy="237744"/>
          </a:xfrm>
          <a:prstGeom prst="rect">
            <a:avLst/>
          </a:prstGeom>
          <a:noFill/>
          <a:ln/>
        </p:spPr>
        <p:txBody>
          <a:bodyPr wrap="square" lIns="0" tIns="0" rIns="0" bIns="0" rtlCol="0" anchor="ctr"/>
          <a:lstStyle/>
          <a:p>
            <a:pPr indent="0" marL="0">
              <a:buNone/>
            </a:pPr>
            <a:r>
              <a:rPr lang="en-US" sz="1100" b="1" dirty="0">
                <a:solidFill>
                  <a:srgbClr val="7B2FBE"/>
                </a:solidFill>
                <a:latin typeface="Calibri" pitchFamily="34" charset="0"/>
                <a:ea typeface="Calibri" pitchFamily="34" charset="-122"/>
                <a:cs typeface="Calibri" pitchFamily="34" charset="-120"/>
              </a:rPr>
              <a:t>Direction</a:t>
            </a:r>
            <a:endParaRPr lang="en-US" sz="1100" dirty="0"/>
          </a:p>
        </p:txBody>
      </p:sp>
      <p:sp>
        <p:nvSpPr>
          <p:cNvPr id="13" name="Shape 11"/>
          <p:cNvSpPr/>
          <p:nvPr/>
        </p:nvSpPr>
        <p:spPr>
          <a:xfrm>
            <a:off x="182880" y="3063240"/>
            <a:ext cx="91440" cy="91440"/>
          </a:xfrm>
          <a:prstGeom prst="ellipse">
            <a:avLst/>
          </a:prstGeom>
          <a:solidFill>
            <a:srgbClr val="7B2FBE"/>
          </a:solidFill>
          <a:ln w="12700">
            <a:solidFill>
              <a:srgbClr val="7B2FBE"/>
            </a:solidFill>
            <a:prstDash val="solid"/>
          </a:ln>
        </p:spPr>
      </p:sp>
      <p:sp>
        <p:nvSpPr>
          <p:cNvPr id="14" name="Text 12"/>
          <p:cNvSpPr/>
          <p:nvPr/>
        </p:nvSpPr>
        <p:spPr>
          <a:xfrm>
            <a:off x="347472" y="3017520"/>
            <a:ext cx="399592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Bright arrow points right → bright variations cluster on the right side (positive PC1)</a:t>
            </a:r>
            <a:endParaRPr lang="en-US" sz="1000" dirty="0"/>
          </a:p>
        </p:txBody>
      </p:sp>
      <p:sp>
        <p:nvSpPr>
          <p:cNvPr id="15" name="Shape 13"/>
          <p:cNvSpPr/>
          <p:nvPr/>
        </p:nvSpPr>
        <p:spPr>
          <a:xfrm>
            <a:off x="182880" y="3538728"/>
            <a:ext cx="91440" cy="91440"/>
          </a:xfrm>
          <a:prstGeom prst="ellipse">
            <a:avLst/>
          </a:prstGeom>
          <a:solidFill>
            <a:srgbClr val="7B2FBE"/>
          </a:solidFill>
          <a:ln w="12700">
            <a:solidFill>
              <a:srgbClr val="7B2FBE"/>
            </a:solidFill>
            <a:prstDash val="solid"/>
          </a:ln>
        </p:spPr>
      </p:sp>
      <p:sp>
        <p:nvSpPr>
          <p:cNvPr id="16" name="Text 14"/>
          <p:cNvSpPr/>
          <p:nvPr/>
        </p:nvSpPr>
        <p:spPr>
          <a:xfrm>
            <a:off x="347472" y="3493008"/>
            <a:ext cx="399592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Loud arrow points upper-left → loud variations cluster in the upper-left region</a:t>
            </a:r>
            <a:endParaRPr lang="en-US" sz="1000" dirty="0"/>
          </a:p>
        </p:txBody>
      </p:sp>
      <p:sp>
        <p:nvSpPr>
          <p:cNvPr id="17" name="Shape 15"/>
          <p:cNvSpPr/>
          <p:nvPr/>
        </p:nvSpPr>
        <p:spPr>
          <a:xfrm>
            <a:off x="182880" y="4014216"/>
            <a:ext cx="91440" cy="91440"/>
          </a:xfrm>
          <a:prstGeom prst="ellipse">
            <a:avLst/>
          </a:prstGeom>
          <a:solidFill>
            <a:srgbClr val="7B2FBE"/>
          </a:solidFill>
          <a:ln w="12700">
            <a:solidFill>
              <a:srgbClr val="7B2FBE"/>
            </a:solidFill>
            <a:prstDash val="solid"/>
          </a:ln>
        </p:spPr>
      </p:sp>
      <p:sp>
        <p:nvSpPr>
          <p:cNvPr id="18" name="Text 16"/>
          <p:cNvSpPr/>
          <p:nvPr/>
        </p:nvSpPr>
        <p:spPr>
          <a:xfrm>
            <a:off x="347472" y="3968496"/>
            <a:ext cx="399592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Smaller angle between two arrows = stronger correlation — Bright and Rough point in similar directions, meaning brighter variations tend to be rougher</a:t>
            </a:r>
            <a:endParaRPr lang="en-US" sz="1000" dirty="0"/>
          </a:p>
        </p:txBody>
      </p:sp>
      <p:sp>
        <p:nvSpPr>
          <p:cNvPr id="19" name="Text 17"/>
          <p:cNvSpPr/>
          <p:nvPr/>
        </p:nvSpPr>
        <p:spPr>
          <a:xfrm>
            <a:off x="4617720" y="2743200"/>
            <a:ext cx="4297680" cy="237744"/>
          </a:xfrm>
          <a:prstGeom prst="rect">
            <a:avLst/>
          </a:prstGeom>
          <a:noFill/>
          <a:ln/>
        </p:spPr>
        <p:txBody>
          <a:bodyPr wrap="square" lIns="0" tIns="0" rIns="0" bIns="0" rtlCol="0" anchor="ctr"/>
          <a:lstStyle/>
          <a:p>
            <a:pPr indent="0" marL="0">
              <a:buNone/>
            </a:pPr>
            <a:r>
              <a:rPr lang="en-US" sz="1100" b="1" dirty="0">
                <a:solidFill>
                  <a:srgbClr val="7B2FBE"/>
                </a:solidFill>
                <a:latin typeface="Calibri" pitchFamily="34" charset="0"/>
                <a:ea typeface="Calibri" pitchFamily="34" charset="-122"/>
                <a:cs typeface="Calibri" pitchFamily="34" charset="-120"/>
              </a:rPr>
              <a:t>Length</a:t>
            </a:r>
            <a:endParaRPr lang="en-US" sz="1100" dirty="0"/>
          </a:p>
        </p:txBody>
      </p:sp>
      <p:sp>
        <p:nvSpPr>
          <p:cNvPr id="20" name="Shape 18"/>
          <p:cNvSpPr/>
          <p:nvPr/>
        </p:nvSpPr>
        <p:spPr>
          <a:xfrm>
            <a:off x="4617720" y="3063240"/>
            <a:ext cx="91440" cy="91440"/>
          </a:xfrm>
          <a:prstGeom prst="ellipse">
            <a:avLst/>
          </a:prstGeom>
          <a:solidFill>
            <a:srgbClr val="64748B"/>
          </a:solidFill>
          <a:ln w="12700">
            <a:solidFill>
              <a:srgbClr val="64748B"/>
            </a:solidFill>
            <a:prstDash val="solid"/>
          </a:ln>
        </p:spPr>
      </p:sp>
      <p:sp>
        <p:nvSpPr>
          <p:cNvPr id="21" name="Text 19"/>
          <p:cNvSpPr/>
          <p:nvPr/>
        </p:nvSpPr>
        <p:spPr>
          <a:xfrm>
            <a:off x="4782312" y="3017520"/>
            <a:ext cx="413308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Longer arrow = feature is well-explained by PC1+PC2; position in the chart reliably reflects that feature's value</a:t>
            </a:r>
            <a:endParaRPr lang="en-US" sz="1000" dirty="0"/>
          </a:p>
        </p:txBody>
      </p:sp>
      <p:sp>
        <p:nvSpPr>
          <p:cNvPr id="22" name="Shape 20"/>
          <p:cNvSpPr/>
          <p:nvPr/>
        </p:nvSpPr>
        <p:spPr>
          <a:xfrm>
            <a:off x="4617720" y="3538728"/>
            <a:ext cx="91440" cy="91440"/>
          </a:xfrm>
          <a:prstGeom prst="ellipse">
            <a:avLst/>
          </a:prstGeom>
          <a:solidFill>
            <a:srgbClr val="64748B"/>
          </a:solidFill>
          <a:ln w="12700">
            <a:solidFill>
              <a:srgbClr val="64748B"/>
            </a:solidFill>
            <a:prstDash val="solid"/>
          </a:ln>
        </p:spPr>
      </p:sp>
      <p:sp>
        <p:nvSpPr>
          <p:cNvPr id="23" name="Text 21"/>
          <p:cNvSpPr/>
          <p:nvPr/>
        </p:nvSpPr>
        <p:spPr>
          <a:xfrm>
            <a:off x="4782312" y="3493008"/>
            <a:ext cx="413308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Shorter arrow = most of the feature's variance "falls into" PC3 and beyond; chart position alone is an unreliable indicator</a:t>
            </a:r>
            <a:endParaRPr lang="en-US" sz="1000" dirty="0"/>
          </a:p>
        </p:txBody>
      </p:sp>
      <p:sp>
        <p:nvSpPr>
          <p:cNvPr id="24" name="Shape 22"/>
          <p:cNvSpPr/>
          <p:nvPr/>
        </p:nvSpPr>
        <p:spPr>
          <a:xfrm>
            <a:off x="4617720" y="4014216"/>
            <a:ext cx="91440" cy="91440"/>
          </a:xfrm>
          <a:prstGeom prst="ellipse">
            <a:avLst/>
          </a:prstGeom>
          <a:solidFill>
            <a:srgbClr val="64748B"/>
          </a:solidFill>
          <a:ln w="12700">
            <a:solidFill>
              <a:srgbClr val="64748B"/>
            </a:solidFill>
            <a:prstDash val="solid"/>
          </a:ln>
        </p:spPr>
      </p:sp>
      <p:sp>
        <p:nvSpPr>
          <p:cNvPr id="25" name="Text 23"/>
          <p:cNvSpPr/>
          <p:nvPr/>
        </p:nvSpPr>
        <p:spPr>
          <a:xfrm>
            <a:off x="4782312" y="3968496"/>
            <a:ext cx="413308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Reading the chart: project a dot perpendicularly onto an arrow's extension — further projection = higher feature value. V1 (rightmost) has the longest Bright projection, so V1 is the brightest variation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E76F51"/>
          </a:solidFill>
          <a:ln w="12700">
            <a:solidFill>
              <a:srgbClr val="E76F51"/>
            </a:solidFill>
            <a:prstDash val="solid"/>
          </a:ln>
        </p:spPr>
      </p:sp>
      <p:sp>
        <p:nvSpPr>
          <p:cNvPr id="3" name="Text 1"/>
          <p:cNvSpPr/>
          <p:nvPr/>
        </p:nvSpPr>
        <p:spPr>
          <a:xfrm>
            <a:off x="182880" y="137160"/>
            <a:ext cx="420624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  Rhythm Bubbles</a:t>
            </a:r>
            <a:endParaRPr lang="en-US" sz="2200" dirty="0"/>
          </a:p>
        </p:txBody>
      </p:sp>
      <p:sp>
        <p:nvSpPr>
          <p:cNvPr id="4" name="Text 2"/>
          <p:cNvSpPr/>
          <p:nvPr/>
        </p:nvSpPr>
        <p:spPr>
          <a:xfrm>
            <a:off x="182880" y="658368"/>
            <a:ext cx="4206240" cy="274320"/>
          </a:xfrm>
          <a:prstGeom prst="rect">
            <a:avLst/>
          </a:prstGeom>
          <a:noFill/>
          <a:ln/>
        </p:spPr>
        <p:txBody>
          <a:bodyPr wrap="square" lIns="0" tIns="0" rIns="0" bIns="0" rtlCol="0" anchor="ctr"/>
          <a:lstStyle/>
          <a:p>
            <a:pPr indent="0" marL="0">
              <a:buNone/>
            </a:pPr>
            <a:r>
              <a:rPr lang="en-US" sz="1100" i="1" dirty="0">
                <a:solidFill>
                  <a:srgbClr val="E76F51"/>
                </a:solidFill>
                <a:latin typeface="Calibri" pitchFamily="34" charset="0"/>
                <a:ea typeface="Calibri" pitchFamily="34" charset="-122"/>
                <a:cs typeface="Calibri" pitchFamily="34" charset="-120"/>
              </a:rPr>
              <a:t>Rhythm Bubble Chart</a:t>
            </a:r>
            <a:endParaRPr lang="en-US" sz="1100" dirty="0"/>
          </a:p>
        </p:txBody>
      </p:sp>
      <p:sp>
        <p:nvSpPr>
          <p:cNvPr id="5" name="Shape 3"/>
          <p:cNvSpPr/>
          <p:nvPr/>
        </p:nvSpPr>
        <p:spPr>
          <a:xfrm>
            <a:off x="182880" y="1005840"/>
            <a:ext cx="1371600" cy="201168"/>
          </a:xfrm>
          <a:prstGeom prst="rect">
            <a:avLst/>
          </a:prstGeom>
          <a:solidFill>
            <a:srgbClr val="E76F51">
              <a:alpha val="70000"/>
            </a:srgbClr>
          </a:solidFill>
          <a:ln w="12700">
            <a:solidFill>
              <a:srgbClr val="E76F51"/>
            </a:solidFill>
            <a:prstDash val="solid"/>
          </a:ln>
        </p:spPr>
      </p:sp>
      <p:sp>
        <p:nvSpPr>
          <p:cNvPr id="6" name="Text 4"/>
          <p:cNvSpPr/>
          <p:nvPr/>
        </p:nvSpPr>
        <p:spPr>
          <a:xfrm>
            <a:off x="237744" y="1014984"/>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 Source</a:t>
            </a:r>
            <a:endParaRPr lang="en-US" sz="900" dirty="0"/>
          </a:p>
        </p:txBody>
      </p:sp>
      <p:sp>
        <p:nvSpPr>
          <p:cNvPr id="7" name="Text 5"/>
          <p:cNvSpPr/>
          <p:nvPr/>
        </p:nvSpPr>
        <p:spPr>
          <a:xfrm>
            <a:off x="182880" y="1225296"/>
            <a:ext cx="8732520" cy="640080"/>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RMS Energy Envelope</a:t>
            </a:r>
            <a:pPr indent="0" marL="0">
              <a:buNone/>
            </a:pPr>
            <a:r>
              <a:rPr lang="en-US" sz="1050" dirty="0">
                <a:solidFill>
                  <a:srgbClr val="1E293B"/>
                </a:solidFill>
                <a:latin typeface="Calibri" pitchFamily="34" charset="0"/>
                <a:ea typeface="Calibri" pitchFamily="34" charset="-122"/>
                <a:cs typeface="Calibri" pitchFamily="34" charset="-120"/>
              </a:rPr>
              <a:t>  Measures average loudness of each time window (Root Mean Square energy)</a:t>
            </a:r>
            <a:endParaRPr lang="en-US" sz="1050" dirty="0"/>
          </a:p>
          <a:p>
            <a:pPr indent="0" marL="0">
              <a:buNone/>
            </a:pPr>
            <a:r>
              <a:rPr lang="en-US" sz="1050" b="1" dirty="0">
                <a:solidFill>
                  <a:srgbClr val="1E293B"/>
                </a:solidFill>
                <a:latin typeface="Calibri" pitchFamily="34" charset="0"/>
                <a:ea typeface="Calibri" pitchFamily="34" charset="-122"/>
                <a:cs typeface="Calibri" pitchFamily="34" charset="-120"/>
              </a:rPr>
              <a:t>Onset Detection</a:t>
            </a:r>
            <a:pPr indent="0" marL="0">
              <a:buNone/>
            </a:pPr>
            <a:r>
              <a:rPr lang="en-US" sz="1050" dirty="0">
                <a:solidFill>
                  <a:srgbClr val="1E293B"/>
                </a:solidFill>
                <a:latin typeface="Calibri" pitchFamily="34" charset="0"/>
                <a:ea typeface="Calibri" pitchFamily="34" charset="-122"/>
                <a:cs typeface="Calibri" pitchFamily="34" charset="-120"/>
              </a:rPr>
              <a:t>  Counts note onsets per time window, then divides by window duration to obtain onset density (onsets/s)</a:t>
            </a:r>
            <a:endParaRPr lang="en-US" sz="1050" dirty="0"/>
          </a:p>
        </p:txBody>
      </p:sp>
      <p:sp>
        <p:nvSpPr>
          <p:cNvPr id="8" name="Shape 6"/>
          <p:cNvSpPr/>
          <p:nvPr/>
        </p:nvSpPr>
        <p:spPr>
          <a:xfrm>
            <a:off x="182880" y="1956816"/>
            <a:ext cx="1371600" cy="201168"/>
          </a:xfrm>
          <a:prstGeom prst="rect">
            <a:avLst/>
          </a:prstGeom>
          <a:solidFill>
            <a:srgbClr val="E76F51">
              <a:alpha val="70000"/>
            </a:srgbClr>
          </a:solidFill>
          <a:ln w="12700">
            <a:solidFill>
              <a:srgbClr val="E76F51"/>
            </a:solidFill>
            <a:prstDash val="solid"/>
          </a:ln>
        </p:spPr>
      </p:sp>
      <p:sp>
        <p:nvSpPr>
          <p:cNvPr id="9" name="Text 7"/>
          <p:cNvSpPr/>
          <p:nvPr/>
        </p:nvSpPr>
        <p:spPr>
          <a:xfrm>
            <a:off x="237744" y="1965960"/>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Density Calculation</a:t>
            </a:r>
            <a:endParaRPr lang="en-US" sz="900" dirty="0"/>
          </a:p>
        </p:txBody>
      </p:sp>
      <p:sp>
        <p:nvSpPr>
          <p:cNvPr id="10" name="Text 8"/>
          <p:cNvSpPr/>
          <p:nvPr/>
        </p:nvSpPr>
        <p:spPr>
          <a:xfrm>
            <a:off x="182880" y="2176272"/>
            <a:ext cx="8732520" cy="8229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Each variation is divided into 32 equal time windows, each corresponding to 2 frames of audio features (64 frames total). Window duration = total variation duration ÷ 32. Count onsets in the window, then divide by duration to get onset density (onsets/s).</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Example: a 16-second variation has windows of ~0.5 s each; 4 onsets in one window → density = 4 ÷ 0.5 = 8 onsets/s.</a:t>
            </a:r>
            <a:endParaRPr lang="en-US" sz="1050" dirty="0"/>
          </a:p>
        </p:txBody>
      </p:sp>
      <p:sp>
        <p:nvSpPr>
          <p:cNvPr id="11" name="Shape 9"/>
          <p:cNvSpPr/>
          <p:nvPr/>
        </p:nvSpPr>
        <p:spPr>
          <a:xfrm>
            <a:off x="182880" y="3090672"/>
            <a:ext cx="1371600" cy="201168"/>
          </a:xfrm>
          <a:prstGeom prst="rect">
            <a:avLst/>
          </a:prstGeom>
          <a:solidFill>
            <a:srgbClr val="E76F51">
              <a:alpha val="70000"/>
            </a:srgbClr>
          </a:solidFill>
          <a:ln w="12700">
            <a:solidFill>
              <a:srgbClr val="E76F51"/>
            </a:solidFill>
            <a:prstDash val="solid"/>
          </a:ln>
        </p:spPr>
      </p:sp>
      <p:sp>
        <p:nvSpPr>
          <p:cNvPr id="12" name="Text 10"/>
          <p:cNvSpPr/>
          <p:nvPr/>
        </p:nvSpPr>
        <p:spPr>
          <a:xfrm>
            <a:off x="237744" y="3099816"/>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Visual Encoding</a:t>
            </a:r>
            <a:endParaRPr lang="en-US" sz="900" dirty="0"/>
          </a:p>
        </p:txBody>
      </p:sp>
      <p:sp>
        <p:nvSpPr>
          <p:cNvPr id="13" name="Text 11"/>
          <p:cNvSpPr/>
          <p:nvPr/>
        </p:nvSpPr>
        <p:spPr>
          <a:xfrm>
            <a:off x="182880" y="3310128"/>
            <a:ext cx="4160520" cy="237744"/>
          </a:xfrm>
          <a:prstGeom prst="rect">
            <a:avLst/>
          </a:prstGeom>
          <a:noFill/>
          <a:ln/>
        </p:spPr>
        <p:txBody>
          <a:bodyPr wrap="square" lIns="0" tIns="0" rIns="0" bIns="0" rtlCol="0" anchor="ctr"/>
          <a:lstStyle/>
          <a:p>
            <a:pPr indent="0" marL="0">
              <a:buNone/>
            </a:pPr>
            <a:r>
              <a:rPr lang="en-US" sz="1100" b="1" dirty="0">
                <a:solidFill>
                  <a:srgbClr val="E76F51"/>
                </a:solidFill>
                <a:latin typeface="Calibri" pitchFamily="34" charset="0"/>
                <a:ea typeface="Calibri" pitchFamily="34" charset="-122"/>
                <a:cs typeface="Calibri" pitchFamily="34" charset="-120"/>
              </a:rPr>
              <a:t>Bubble size  →  Loudness</a:t>
            </a:r>
            <a:endParaRPr lang="en-US" sz="1100" dirty="0"/>
          </a:p>
        </p:txBody>
      </p:sp>
      <p:sp>
        <p:nvSpPr>
          <p:cNvPr id="14" name="Shape 12"/>
          <p:cNvSpPr/>
          <p:nvPr/>
        </p:nvSpPr>
        <p:spPr>
          <a:xfrm>
            <a:off x="182880" y="3630168"/>
            <a:ext cx="91440" cy="91440"/>
          </a:xfrm>
          <a:prstGeom prst="ellipse">
            <a:avLst/>
          </a:prstGeom>
          <a:solidFill>
            <a:srgbClr val="E76F51"/>
          </a:solidFill>
          <a:ln w="12700">
            <a:solidFill>
              <a:srgbClr val="E76F51"/>
            </a:solidFill>
            <a:prstDash val="solid"/>
          </a:ln>
        </p:spPr>
      </p:sp>
      <p:sp>
        <p:nvSpPr>
          <p:cNvPr id="15" name="Text 13"/>
          <p:cNvSpPr/>
          <p:nvPr/>
        </p:nvSpPr>
        <p:spPr>
          <a:xfrm>
            <a:off x="347472" y="3584448"/>
            <a:ext cx="399592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Bubble radius = √(window avg RMS ÷ global max RMS) × max radius</a:t>
            </a:r>
            <a:endParaRPr lang="en-US" sz="1000" dirty="0"/>
          </a:p>
        </p:txBody>
      </p:sp>
      <p:sp>
        <p:nvSpPr>
          <p:cNvPr id="16" name="Shape 14"/>
          <p:cNvSpPr/>
          <p:nvPr/>
        </p:nvSpPr>
        <p:spPr>
          <a:xfrm>
            <a:off x="182880" y="4014216"/>
            <a:ext cx="91440" cy="91440"/>
          </a:xfrm>
          <a:prstGeom prst="ellipse">
            <a:avLst/>
          </a:prstGeom>
          <a:solidFill>
            <a:srgbClr val="E76F51"/>
          </a:solidFill>
          <a:ln w="12700">
            <a:solidFill>
              <a:srgbClr val="E76F51"/>
            </a:solidFill>
            <a:prstDash val="solid"/>
          </a:ln>
        </p:spPr>
      </p:sp>
      <p:sp>
        <p:nvSpPr>
          <p:cNvPr id="17" name="Text 15"/>
          <p:cNvSpPr/>
          <p:nvPr/>
        </p:nvSpPr>
        <p:spPr>
          <a:xfrm>
            <a:off x="347472" y="3968496"/>
            <a:ext cx="399592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Louder windows produce larger bubbles; quieter windows produce smaller ones</a:t>
            </a:r>
            <a:endParaRPr lang="en-US" sz="1000" dirty="0"/>
          </a:p>
        </p:txBody>
      </p:sp>
      <p:sp>
        <p:nvSpPr>
          <p:cNvPr id="18" name="Shape 16"/>
          <p:cNvSpPr/>
          <p:nvPr/>
        </p:nvSpPr>
        <p:spPr>
          <a:xfrm>
            <a:off x="182880" y="4398264"/>
            <a:ext cx="91440" cy="91440"/>
          </a:xfrm>
          <a:prstGeom prst="ellipse">
            <a:avLst/>
          </a:prstGeom>
          <a:solidFill>
            <a:srgbClr val="E76F51"/>
          </a:solidFill>
          <a:ln w="12700">
            <a:solidFill>
              <a:srgbClr val="E76F51"/>
            </a:solidFill>
            <a:prstDash val="solid"/>
          </a:ln>
        </p:spPr>
      </p:sp>
      <p:sp>
        <p:nvSpPr>
          <p:cNvPr id="19" name="Text 17"/>
          <p:cNvSpPr/>
          <p:nvPr/>
        </p:nvSpPr>
        <p:spPr>
          <a:xfrm>
            <a:off x="347472" y="4352544"/>
            <a:ext cx="399592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Large bubble = forte passage; small bubble = piano or diminuendo</a:t>
            </a:r>
            <a:endParaRPr lang="en-US" sz="1000" dirty="0"/>
          </a:p>
        </p:txBody>
      </p:sp>
      <p:sp>
        <p:nvSpPr>
          <p:cNvPr id="20" name="Text 18"/>
          <p:cNvSpPr/>
          <p:nvPr/>
        </p:nvSpPr>
        <p:spPr>
          <a:xfrm>
            <a:off x="4617720" y="3310128"/>
            <a:ext cx="4297680" cy="237744"/>
          </a:xfrm>
          <a:prstGeom prst="rect">
            <a:avLst/>
          </a:prstGeom>
          <a:noFill/>
          <a:ln/>
        </p:spPr>
        <p:txBody>
          <a:bodyPr wrap="square" lIns="0" tIns="0" rIns="0" bIns="0" rtlCol="0" anchor="ctr"/>
          <a:lstStyle/>
          <a:p>
            <a:pPr indent="0" marL="0">
              <a:buNone/>
            </a:pPr>
            <a:r>
              <a:rPr lang="en-US" sz="1100" b="1" dirty="0">
                <a:solidFill>
                  <a:srgbClr val="E76F51"/>
                </a:solidFill>
                <a:latin typeface="Calibri" pitchFamily="34" charset="0"/>
                <a:ea typeface="Calibri" pitchFamily="34" charset="-122"/>
                <a:cs typeface="Calibri" pitchFamily="34" charset="-120"/>
              </a:rPr>
              <a:t>Bubble opacity  →  Note density</a:t>
            </a:r>
            <a:endParaRPr lang="en-US" sz="1100" dirty="0"/>
          </a:p>
        </p:txBody>
      </p:sp>
      <p:sp>
        <p:nvSpPr>
          <p:cNvPr id="21" name="Shape 19"/>
          <p:cNvSpPr/>
          <p:nvPr/>
        </p:nvSpPr>
        <p:spPr>
          <a:xfrm>
            <a:off x="4617720" y="3630168"/>
            <a:ext cx="91440" cy="91440"/>
          </a:xfrm>
          <a:prstGeom prst="ellipse">
            <a:avLst/>
          </a:prstGeom>
          <a:solidFill>
            <a:srgbClr val="FF9A3C"/>
          </a:solidFill>
          <a:ln w="12700">
            <a:solidFill>
              <a:srgbClr val="FF9A3C"/>
            </a:solidFill>
            <a:prstDash val="solid"/>
          </a:ln>
        </p:spPr>
      </p:sp>
      <p:sp>
        <p:nvSpPr>
          <p:cNvPr id="22" name="Text 20"/>
          <p:cNvSpPr/>
          <p:nvPr/>
        </p:nvSpPr>
        <p:spPr>
          <a:xfrm>
            <a:off x="4782312" y="3584448"/>
            <a:ext cx="413308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Opacity = min(0.92, max(0.04, onset density ÷ 10))</a:t>
            </a:r>
            <a:endParaRPr lang="en-US" sz="1000" dirty="0"/>
          </a:p>
        </p:txBody>
      </p:sp>
      <p:sp>
        <p:nvSpPr>
          <p:cNvPr id="23" name="Shape 21"/>
          <p:cNvSpPr/>
          <p:nvPr/>
        </p:nvSpPr>
        <p:spPr>
          <a:xfrm>
            <a:off x="4617720" y="4014216"/>
            <a:ext cx="91440" cy="91440"/>
          </a:xfrm>
          <a:prstGeom prst="ellipse">
            <a:avLst/>
          </a:prstGeom>
          <a:solidFill>
            <a:srgbClr val="FF9A3C"/>
          </a:solidFill>
          <a:ln w="12700">
            <a:solidFill>
              <a:srgbClr val="FF9A3C"/>
            </a:solidFill>
            <a:prstDash val="solid"/>
          </a:ln>
        </p:spPr>
      </p:sp>
      <p:sp>
        <p:nvSpPr>
          <p:cNvPr id="24" name="Text 22"/>
          <p:cNvSpPr/>
          <p:nvPr/>
        </p:nvSpPr>
        <p:spPr>
          <a:xfrm>
            <a:off x="4782312" y="3968496"/>
            <a:ext cx="413308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Onset density &lt; 1/s → nearly transparent; ≥ 10/s → nearly opaque</a:t>
            </a:r>
            <a:endParaRPr lang="en-US" sz="1000" dirty="0"/>
          </a:p>
        </p:txBody>
      </p:sp>
      <p:sp>
        <p:nvSpPr>
          <p:cNvPr id="25" name="Shape 23"/>
          <p:cNvSpPr/>
          <p:nvPr/>
        </p:nvSpPr>
        <p:spPr>
          <a:xfrm>
            <a:off x="4617720" y="4398264"/>
            <a:ext cx="91440" cy="91440"/>
          </a:xfrm>
          <a:prstGeom prst="ellipse">
            <a:avLst/>
          </a:prstGeom>
          <a:solidFill>
            <a:srgbClr val="FF9A3C"/>
          </a:solidFill>
          <a:ln w="12700">
            <a:solidFill>
              <a:srgbClr val="FF9A3C"/>
            </a:solidFill>
            <a:prstDash val="solid"/>
          </a:ln>
        </p:spPr>
      </p:sp>
      <p:sp>
        <p:nvSpPr>
          <p:cNvPr id="26" name="Text 24"/>
          <p:cNvSpPr/>
          <p:nvPr/>
        </p:nvSpPr>
        <p:spPr>
          <a:xfrm>
            <a:off x="4782312" y="4352544"/>
            <a:ext cx="4133088"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Opaque = dense notes, busy rhythm; transparent = sparse, long notes predominate</a:t>
            </a:r>
            <a:endParaRPr lang="en-US" sz="1000" dirty="0"/>
          </a:p>
        </p:txBody>
      </p:sp>
      <p:sp>
        <p:nvSpPr>
          <p:cNvPr id="27" name="Text 25"/>
          <p:cNvSpPr/>
          <p:nvPr/>
        </p:nvSpPr>
        <p:spPr>
          <a:xfrm>
            <a:off x="182880" y="4754880"/>
            <a:ext cx="8732520" cy="256032"/>
          </a:xfrm>
          <a:prstGeom prst="rect">
            <a:avLst/>
          </a:prstGeom>
          <a:noFill/>
          <a:ln/>
        </p:spPr>
        <p:txBody>
          <a:bodyPr wrap="square" lIns="0" tIns="0" rIns="0" bIns="0" rtlCol="0" anchor="ctr"/>
          <a:lstStyle/>
          <a:p>
            <a:pPr indent="0" marL="0">
              <a:buNone/>
            </a:pPr>
            <a:r>
              <a:rPr lang="en-US" sz="1050" i="1" dirty="0">
                <a:solidFill>
                  <a:srgbClr val="E76F51"/>
                </a:solidFill>
                <a:latin typeface="Calibri" pitchFamily="34" charset="0"/>
                <a:ea typeface="Calibri" pitchFamily="34" charset="-122"/>
                <a:cs typeface="Calibri" pitchFamily="34" charset="-120"/>
              </a:rPr>
              <a:t>Large and opaque: loud and note-dense — the most compact and powerful passages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E76F51"/>
          </a:solidFill>
          <a:ln w="12700">
            <a:solidFill>
              <a:srgbClr val="E76F51"/>
            </a:solidFill>
            <a:prstDash val="solid"/>
          </a:ln>
        </p:spPr>
      </p:sp>
      <p:sp>
        <p:nvSpPr>
          <p:cNvPr id="3" name="Text 1"/>
          <p:cNvSpPr/>
          <p:nvPr/>
        </p:nvSpPr>
        <p:spPr>
          <a:xfrm>
            <a:off x="182880" y="137160"/>
            <a:ext cx="420624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  Rhythm Bubbles</a:t>
            </a:r>
            <a:endParaRPr lang="en-US" sz="2200" dirty="0"/>
          </a:p>
        </p:txBody>
      </p:sp>
      <p:sp>
        <p:nvSpPr>
          <p:cNvPr id="4" name="Text 2"/>
          <p:cNvSpPr/>
          <p:nvPr/>
        </p:nvSpPr>
        <p:spPr>
          <a:xfrm>
            <a:off x="182880" y="658368"/>
            <a:ext cx="4206240" cy="274320"/>
          </a:xfrm>
          <a:prstGeom prst="rect">
            <a:avLst/>
          </a:prstGeom>
          <a:noFill/>
          <a:ln/>
        </p:spPr>
        <p:txBody>
          <a:bodyPr wrap="square" lIns="0" tIns="0" rIns="0" bIns="0" rtlCol="0" anchor="ctr"/>
          <a:lstStyle/>
          <a:p>
            <a:pPr indent="0" marL="0">
              <a:buNone/>
            </a:pPr>
            <a:r>
              <a:rPr lang="en-US" sz="1100" i="1" dirty="0">
                <a:solidFill>
                  <a:srgbClr val="E76F51"/>
                </a:solidFill>
                <a:latin typeface="Calibri" pitchFamily="34" charset="0"/>
                <a:ea typeface="Calibri" pitchFamily="34" charset="-122"/>
                <a:cs typeface="Calibri" pitchFamily="34" charset="-120"/>
              </a:rPr>
              <a:t>Rhythm Bubble Chart</a:t>
            </a:r>
            <a:endParaRPr lang="en-US" sz="1100" dirty="0"/>
          </a:p>
        </p:txBody>
      </p:sp>
      <p:sp>
        <p:nvSpPr>
          <p:cNvPr id="5" name="Shape 3"/>
          <p:cNvSpPr/>
          <p:nvPr/>
        </p:nvSpPr>
        <p:spPr>
          <a:xfrm>
            <a:off x="182880" y="822960"/>
            <a:ext cx="8778240" cy="4133088"/>
          </a:xfrm>
          <a:prstGeom prst="rect">
            <a:avLst/>
          </a:prstGeom>
          <a:solidFill>
            <a:srgbClr val="F1F5F9"/>
          </a:solidFill>
          <a:ln w="12700">
            <a:solidFill>
              <a:srgbClr val="94A3B8"/>
            </a:solidFill>
            <a:prstDash val="dash"/>
          </a:ln>
        </p:spPr>
      </p:sp>
      <p:sp>
        <p:nvSpPr>
          <p:cNvPr id="6" name="Text 4"/>
          <p:cNvSpPr/>
          <p:nvPr/>
        </p:nvSpPr>
        <p:spPr>
          <a:xfrm>
            <a:off x="182880" y="2651760"/>
            <a:ext cx="877824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Screenshot Area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DC653"/>
          </a:solidFill>
          <a:ln w="12700">
            <a:solidFill>
              <a:srgbClr val="2DC653"/>
            </a:solidFill>
            <a:prstDash val="solid"/>
          </a:ln>
        </p:spPr>
      </p:sp>
      <p:sp>
        <p:nvSpPr>
          <p:cNvPr id="3" name="Text 1"/>
          <p:cNvSpPr/>
          <p:nvPr/>
        </p:nvSpPr>
        <p:spPr>
          <a:xfrm>
            <a:off x="182880" y="137160"/>
            <a:ext cx="420624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  Chroma Ring</a:t>
            </a:r>
            <a:endParaRPr lang="en-US" sz="2200" dirty="0"/>
          </a:p>
        </p:txBody>
      </p:sp>
      <p:sp>
        <p:nvSpPr>
          <p:cNvPr id="4" name="Text 2"/>
          <p:cNvSpPr/>
          <p:nvPr/>
        </p:nvSpPr>
        <p:spPr>
          <a:xfrm>
            <a:off x="182880" y="658368"/>
            <a:ext cx="4206240" cy="274320"/>
          </a:xfrm>
          <a:prstGeom prst="rect">
            <a:avLst/>
          </a:prstGeom>
          <a:noFill/>
          <a:ln/>
        </p:spPr>
        <p:txBody>
          <a:bodyPr wrap="square" lIns="0" tIns="0" rIns="0" bIns="0"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Chroma Ring — Circle of Fifths</a:t>
            </a:r>
            <a:endParaRPr lang="en-US" sz="1100" dirty="0"/>
          </a:p>
        </p:txBody>
      </p:sp>
      <p:sp>
        <p:nvSpPr>
          <p:cNvPr id="5" name="Shape 3"/>
          <p:cNvSpPr/>
          <p:nvPr/>
        </p:nvSpPr>
        <p:spPr>
          <a:xfrm>
            <a:off x="182880" y="1005840"/>
            <a:ext cx="1371600" cy="201168"/>
          </a:xfrm>
          <a:prstGeom prst="rect">
            <a:avLst/>
          </a:prstGeom>
          <a:solidFill>
            <a:srgbClr val="2DC653">
              <a:alpha val="70000"/>
            </a:srgbClr>
          </a:solidFill>
          <a:ln w="12700">
            <a:solidFill>
              <a:srgbClr val="2DC653"/>
            </a:solidFill>
            <a:prstDash val="solid"/>
          </a:ln>
        </p:spPr>
      </p:sp>
      <p:sp>
        <p:nvSpPr>
          <p:cNvPr id="6" name="Text 4"/>
          <p:cNvSpPr/>
          <p:nvPr/>
        </p:nvSpPr>
        <p:spPr>
          <a:xfrm>
            <a:off x="237744" y="1014984"/>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 Source</a:t>
            </a:r>
            <a:endParaRPr lang="en-US" sz="900" dirty="0"/>
          </a:p>
        </p:txBody>
      </p:sp>
      <p:sp>
        <p:nvSpPr>
          <p:cNvPr id="7" name="Text 5"/>
          <p:cNvSpPr/>
          <p:nvPr/>
        </p:nvSpPr>
        <p:spPr>
          <a:xfrm>
            <a:off x="182880" y="1261872"/>
            <a:ext cx="4114800" cy="7498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Audio Chroma Features</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Extracts the average energy of each of the 12 pitch classes (C, D, E…) from the audio</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Arranged in circle-of-fifths order; adjacent sectors are harmonically closer</a:t>
            </a:r>
            <a:endParaRPr lang="en-US" sz="1100" dirty="0"/>
          </a:p>
        </p:txBody>
      </p:sp>
      <p:sp>
        <p:nvSpPr>
          <p:cNvPr id="8" name="Shape 6"/>
          <p:cNvSpPr/>
          <p:nvPr/>
        </p:nvSpPr>
        <p:spPr>
          <a:xfrm>
            <a:off x="182880" y="2103120"/>
            <a:ext cx="1371600" cy="201168"/>
          </a:xfrm>
          <a:prstGeom prst="rect">
            <a:avLst/>
          </a:prstGeom>
          <a:solidFill>
            <a:srgbClr val="2DC653">
              <a:alpha val="70000"/>
            </a:srgbClr>
          </a:solidFill>
          <a:ln w="12700">
            <a:solidFill>
              <a:srgbClr val="2DC653"/>
            </a:solidFill>
            <a:prstDash val="solid"/>
          </a:ln>
        </p:spPr>
      </p:sp>
      <p:sp>
        <p:nvSpPr>
          <p:cNvPr id="9" name="Text 7"/>
          <p:cNvSpPr/>
          <p:nvPr/>
        </p:nvSpPr>
        <p:spPr>
          <a:xfrm>
            <a:off x="237744" y="2112264"/>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Visual Encoding</a:t>
            </a:r>
            <a:endParaRPr lang="en-US" sz="900" dirty="0"/>
          </a:p>
        </p:txBody>
      </p:sp>
      <p:sp>
        <p:nvSpPr>
          <p:cNvPr id="10" name="Shape 8"/>
          <p:cNvSpPr/>
          <p:nvPr/>
        </p:nvSpPr>
        <p:spPr>
          <a:xfrm>
            <a:off x="182880" y="2386584"/>
            <a:ext cx="91440" cy="91440"/>
          </a:xfrm>
          <a:prstGeom prst="ellipse">
            <a:avLst/>
          </a:prstGeom>
          <a:solidFill>
            <a:srgbClr val="2DC653"/>
          </a:solidFill>
          <a:ln w="12700">
            <a:solidFill>
              <a:srgbClr val="2DC653"/>
            </a:solidFill>
            <a:prstDash val="solid"/>
          </a:ln>
        </p:spPr>
      </p:sp>
      <p:sp>
        <p:nvSpPr>
          <p:cNvPr id="11" name="Text 9"/>
          <p:cNvSpPr/>
          <p:nvPr/>
        </p:nvSpPr>
        <p:spPr>
          <a:xfrm>
            <a:off x="347472" y="2340864"/>
            <a:ext cx="3950208"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Sector size  →  The more a pitch class is used in the variation, the larger the sector</a:t>
            </a:r>
            <a:endParaRPr lang="en-US" sz="1100" dirty="0"/>
          </a:p>
        </p:txBody>
      </p:sp>
      <p:sp>
        <p:nvSpPr>
          <p:cNvPr id="12" name="Shape 10"/>
          <p:cNvSpPr/>
          <p:nvPr/>
        </p:nvSpPr>
        <p:spPr>
          <a:xfrm>
            <a:off x="182880" y="2907792"/>
            <a:ext cx="91440" cy="91440"/>
          </a:xfrm>
          <a:prstGeom prst="ellipse">
            <a:avLst/>
          </a:prstGeom>
          <a:solidFill>
            <a:srgbClr val="F4C430"/>
          </a:solidFill>
          <a:ln w="12700">
            <a:solidFill>
              <a:srgbClr val="F4C430"/>
            </a:solidFill>
            <a:prstDash val="solid"/>
          </a:ln>
        </p:spPr>
      </p:sp>
      <p:sp>
        <p:nvSpPr>
          <p:cNvPr id="13" name="Text 11"/>
          <p:cNvSpPr/>
          <p:nvPr/>
        </p:nvSpPr>
        <p:spPr>
          <a:xfrm>
            <a:off x="347472" y="2862072"/>
            <a:ext cx="3950208"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Each sector has a fixed color  →  Color maps 1:1 to pitch class (e.g. C = red, G = orange)</a:t>
            </a:r>
            <a:endParaRPr lang="en-US" sz="1100" dirty="0"/>
          </a:p>
        </p:txBody>
      </p:sp>
      <p:sp>
        <p:nvSpPr>
          <p:cNvPr id="14" name="Shape 12"/>
          <p:cNvSpPr/>
          <p:nvPr/>
        </p:nvSpPr>
        <p:spPr>
          <a:xfrm>
            <a:off x="182880" y="3429000"/>
            <a:ext cx="91440" cy="91440"/>
          </a:xfrm>
          <a:prstGeom prst="ellipse">
            <a:avLst/>
          </a:prstGeom>
          <a:solidFill>
            <a:srgbClr val="4361EE"/>
          </a:solidFill>
          <a:ln w="12700">
            <a:solidFill>
              <a:srgbClr val="4361EE"/>
            </a:solidFill>
            <a:prstDash val="solid"/>
          </a:ln>
        </p:spPr>
      </p:sp>
      <p:sp>
        <p:nvSpPr>
          <p:cNvPr id="15" name="Text 13"/>
          <p:cNvSpPr/>
          <p:nvPr/>
        </p:nvSpPr>
        <p:spPr>
          <a:xfrm>
            <a:off x="347472" y="3383280"/>
            <a:ext cx="3950208"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Adjacent colors = close harmonic relationship  →  Adjacent notes on the circle of fifths sound more consonant</a:t>
            </a:r>
            <a:endParaRPr lang="en-US" sz="1100" dirty="0"/>
          </a:p>
        </p:txBody>
      </p:sp>
      <p:sp>
        <p:nvSpPr>
          <p:cNvPr id="16" name="Shape 14"/>
          <p:cNvSpPr/>
          <p:nvPr/>
        </p:nvSpPr>
        <p:spPr>
          <a:xfrm>
            <a:off x="182880" y="3950208"/>
            <a:ext cx="91440" cy="91440"/>
          </a:xfrm>
          <a:prstGeom prst="ellipse">
            <a:avLst/>
          </a:prstGeom>
          <a:solidFill>
            <a:srgbClr val="64748B"/>
          </a:solidFill>
          <a:ln w="12700">
            <a:solidFill>
              <a:srgbClr val="64748B"/>
            </a:solidFill>
            <a:prstDash val="solid"/>
          </a:ln>
        </p:spPr>
      </p:sp>
      <p:sp>
        <p:nvSpPr>
          <p:cNvPr id="17" name="Text 15"/>
          <p:cNvSpPr/>
          <p:nvPr/>
        </p:nvSpPr>
        <p:spPr>
          <a:xfrm>
            <a:off x="347472" y="3904488"/>
            <a:ext cx="3950208"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Variations in the same key: the same sector is largest → tonality is preserved across variations</a:t>
            </a:r>
            <a:endParaRPr lang="en-US" sz="1100" dirty="0"/>
          </a:p>
        </p:txBody>
      </p:sp>
      <p:sp>
        <p:nvSpPr>
          <p:cNvPr id="18" name="Text 16"/>
          <p:cNvSpPr/>
          <p:nvPr/>
        </p:nvSpPr>
        <p:spPr>
          <a:xfrm>
            <a:off x="182880" y="4425696"/>
            <a:ext cx="4114800" cy="475488"/>
          </a:xfrm>
          <a:prstGeom prst="rect">
            <a:avLst/>
          </a:prstGeom>
          <a:noFill/>
          <a:ln/>
        </p:spPr>
        <p:txBody>
          <a:bodyPr wrap="square" lIns="0" tIns="0" rIns="0" bIns="0" rtlCol="0" anchor="ctr"/>
          <a:lstStyle/>
          <a:p>
            <a:pPr indent="0" marL="0">
              <a:buNone/>
            </a:pPr>
            <a:r>
              <a:rPr lang="en-US" sz="1050" i="1" dirty="0">
                <a:solidFill>
                  <a:srgbClr val="2DC653"/>
                </a:solidFill>
                <a:latin typeface="Calibri" pitchFamily="34" charset="0"/>
                <a:ea typeface="Calibri" pitchFamily="34" charset="-122"/>
                <a:cs typeface="Calibri" pitchFamily="34" charset="-120"/>
              </a:rPr>
              <a:t>Listening guide: sectors concentrated in a few colors = strong tonality, simple pitch content;</a:t>
            </a:r>
            <a:endParaRPr lang="en-US" sz="1050" dirty="0"/>
          </a:p>
          <a:p>
            <a:pPr indent="0" marL="0">
              <a:buNone/>
            </a:pPr>
            <a:r>
              <a:rPr lang="en-US" sz="1050" i="1" dirty="0">
                <a:solidFill>
                  <a:srgbClr val="2DC653"/>
                </a:solidFill>
                <a:latin typeface="Calibri" pitchFamily="34" charset="0"/>
                <a:ea typeface="Calibri" pitchFamily="34" charset="-122"/>
                <a:cs typeface="Calibri" pitchFamily="34" charset="-120"/>
              </a:rPr>
              <a:t>spread distribution = chromaticism / complex harmony</a:t>
            </a:r>
            <a:endParaRPr lang="en-US" sz="1050" dirty="0"/>
          </a:p>
        </p:txBody>
      </p:sp>
      <p:sp>
        <p:nvSpPr>
          <p:cNvPr id="19" name="Shape 17"/>
          <p:cNvSpPr/>
          <p:nvPr/>
        </p:nvSpPr>
        <p:spPr>
          <a:xfrm>
            <a:off x="4343400" y="749808"/>
            <a:ext cx="4572000" cy="4206240"/>
          </a:xfrm>
          <a:prstGeom prst="rect">
            <a:avLst/>
          </a:prstGeom>
          <a:solidFill>
            <a:srgbClr val="F1F5F9"/>
          </a:solidFill>
          <a:ln w="12700">
            <a:solidFill>
              <a:srgbClr val="94A3B8"/>
            </a:solidFill>
            <a:prstDash val="dash"/>
          </a:ln>
        </p:spPr>
      </p:sp>
      <p:sp>
        <p:nvSpPr>
          <p:cNvPr id="20" name="Text 18"/>
          <p:cNvSpPr/>
          <p:nvPr/>
        </p:nvSpPr>
        <p:spPr>
          <a:xfrm>
            <a:off x="4343400" y="2560320"/>
            <a:ext cx="457200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Screenshot Area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0" cy="82296"/>
          </a:xfrm>
          <a:prstGeom prst="rect">
            <a:avLst/>
          </a:prstGeom>
          <a:solidFill>
            <a:srgbClr val="4361EE"/>
          </a:solidFill>
          <a:ln w="12700">
            <a:solidFill>
              <a:srgbClr val="4361EE"/>
            </a:solidFill>
            <a:prstDash val="solid"/>
          </a:ln>
        </p:spPr>
      </p:sp>
      <p:sp>
        <p:nvSpPr>
          <p:cNvPr id="3" name="Shape 1"/>
          <p:cNvSpPr/>
          <p:nvPr/>
        </p:nvSpPr>
        <p:spPr>
          <a:xfrm>
            <a:off x="2286000" y="0"/>
            <a:ext cx="2286000" cy="82296"/>
          </a:xfrm>
          <a:prstGeom prst="rect">
            <a:avLst/>
          </a:prstGeom>
          <a:solidFill>
            <a:srgbClr val="7B2FBE"/>
          </a:solidFill>
          <a:ln w="12700">
            <a:solidFill>
              <a:srgbClr val="7B2FBE"/>
            </a:solidFill>
            <a:prstDash val="solid"/>
          </a:ln>
        </p:spPr>
      </p:sp>
      <p:sp>
        <p:nvSpPr>
          <p:cNvPr id="4" name="Shape 2"/>
          <p:cNvSpPr/>
          <p:nvPr/>
        </p:nvSpPr>
        <p:spPr>
          <a:xfrm>
            <a:off x="4572000" y="0"/>
            <a:ext cx="2286000" cy="82296"/>
          </a:xfrm>
          <a:prstGeom prst="rect">
            <a:avLst/>
          </a:prstGeom>
          <a:solidFill>
            <a:srgbClr val="E76F51"/>
          </a:solidFill>
          <a:ln w="12700">
            <a:solidFill>
              <a:srgbClr val="E76F51"/>
            </a:solidFill>
            <a:prstDash val="solid"/>
          </a:ln>
        </p:spPr>
      </p:sp>
      <p:sp>
        <p:nvSpPr>
          <p:cNvPr id="5" name="Shape 3"/>
          <p:cNvSpPr/>
          <p:nvPr/>
        </p:nvSpPr>
        <p:spPr>
          <a:xfrm>
            <a:off x="6858000" y="0"/>
            <a:ext cx="2286000" cy="82296"/>
          </a:xfrm>
          <a:prstGeom prst="rect">
            <a:avLst/>
          </a:prstGeom>
          <a:solidFill>
            <a:srgbClr val="2DC653"/>
          </a:solidFill>
          <a:ln w="12700">
            <a:solidFill>
              <a:srgbClr val="2DC653"/>
            </a:solidFill>
            <a:prstDash val="solid"/>
          </a:ln>
        </p:spPr>
      </p:sp>
      <p:sp>
        <p:nvSpPr>
          <p:cNvPr id="6" name="Text 4"/>
          <p:cNvSpPr/>
          <p:nvPr/>
        </p:nvSpPr>
        <p:spPr>
          <a:xfrm>
            <a:off x="731520" y="640080"/>
            <a:ext cx="7680960" cy="731520"/>
          </a:xfrm>
          <a:prstGeom prst="rect">
            <a:avLst/>
          </a:prstGeom>
          <a:noFill/>
          <a:ln/>
        </p:spPr>
        <p:txBody>
          <a:bodyPr wrap="square" lIns="0" tIns="0" rIns="0" bIns="0" rtlCol="0" anchor="ctr"/>
          <a:lstStyle/>
          <a:p>
            <a:pPr algn="ctr" indent="0" marL="0">
              <a:buNone/>
            </a:pPr>
            <a:r>
              <a:rPr lang="en-US" sz="3200" b="1" dirty="0">
                <a:solidFill>
                  <a:srgbClr val="1E293B"/>
                </a:solidFill>
                <a:latin typeface="Georgia" pitchFamily="34" charset="0"/>
                <a:ea typeface="Georgia" pitchFamily="34" charset="-122"/>
                <a:cs typeface="Georgia" pitchFamily="34" charset="-120"/>
              </a:rPr>
              <a:t>VariVis 让你看见音乐</a:t>
            </a:r>
            <a:endParaRPr lang="en-US" sz="3200" dirty="0"/>
          </a:p>
        </p:txBody>
      </p:sp>
      <p:sp>
        <p:nvSpPr>
          <p:cNvPr id="7" name="Text 5"/>
          <p:cNvSpPr/>
          <p:nvPr/>
        </p:nvSpPr>
        <p:spPr>
          <a:xfrm>
            <a:off x="731520" y="1463040"/>
            <a:ext cx="7680960" cy="36576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四个维度，一套系统，完整还原主题与变奏的演变关系</a:t>
            </a:r>
            <a:endParaRPr lang="en-US" sz="1400" dirty="0"/>
          </a:p>
        </p:txBody>
      </p:sp>
      <p:sp>
        <p:nvSpPr>
          <p:cNvPr id="8" name="Shape 6"/>
          <p:cNvSpPr/>
          <p:nvPr/>
        </p:nvSpPr>
        <p:spPr>
          <a:xfrm>
            <a:off x="731520" y="2011680"/>
            <a:ext cx="1737360" cy="2377440"/>
          </a:xfrm>
          <a:prstGeom prst="rect">
            <a:avLst/>
          </a:prstGeom>
          <a:solidFill>
            <a:srgbClr val="F1F5F9"/>
          </a:solidFill>
          <a:ln w="6350">
            <a:solidFill>
              <a:srgbClr val="E2EBF4"/>
            </a:solidFill>
            <a:prstDash val="solid"/>
          </a:ln>
        </p:spPr>
      </p:sp>
      <p:sp>
        <p:nvSpPr>
          <p:cNvPr id="9" name="Shape 7"/>
          <p:cNvSpPr/>
          <p:nvPr/>
        </p:nvSpPr>
        <p:spPr>
          <a:xfrm>
            <a:off x="731520" y="2011680"/>
            <a:ext cx="1737360" cy="109728"/>
          </a:xfrm>
          <a:prstGeom prst="rect">
            <a:avLst/>
          </a:prstGeom>
          <a:solidFill>
            <a:srgbClr val="4361EE"/>
          </a:solidFill>
          <a:ln w="12700">
            <a:solidFill>
              <a:srgbClr val="4361EE"/>
            </a:solidFill>
            <a:prstDash val="solid"/>
          </a:ln>
        </p:spPr>
      </p:sp>
      <p:sp>
        <p:nvSpPr>
          <p:cNvPr id="10" name="Shape 8"/>
          <p:cNvSpPr/>
          <p:nvPr/>
        </p:nvSpPr>
        <p:spPr>
          <a:xfrm>
            <a:off x="1371600" y="2212848"/>
            <a:ext cx="457200" cy="457200"/>
          </a:xfrm>
          <a:prstGeom prst="ellipse">
            <a:avLst/>
          </a:prstGeom>
          <a:solidFill>
            <a:srgbClr val="4361EE">
              <a:alpha val="75000"/>
            </a:srgbClr>
          </a:solidFill>
          <a:ln w="12700">
            <a:solidFill>
              <a:srgbClr val="4361EE"/>
            </a:solidFill>
            <a:prstDash val="solid"/>
          </a:ln>
        </p:spPr>
      </p:sp>
      <p:sp>
        <p:nvSpPr>
          <p:cNvPr id="11" name="Text 9"/>
          <p:cNvSpPr/>
          <p:nvPr/>
        </p:nvSpPr>
        <p:spPr>
          <a:xfrm>
            <a:off x="777240" y="2798064"/>
            <a:ext cx="1645920" cy="274320"/>
          </a:xfrm>
          <a:prstGeom prst="rect">
            <a:avLst/>
          </a:prstGeom>
          <a:noFill/>
          <a:ln/>
        </p:spPr>
        <p:txBody>
          <a:bodyPr wrap="square" lIns="0" tIns="0" rIns="0" bIns="0" rtlCol="0" anchor="ctr"/>
          <a:lstStyle/>
          <a:p>
            <a:pPr algn="ctr" indent="0" marL="0">
              <a:buNone/>
            </a:pPr>
            <a:r>
              <a:rPr lang="en-US" sz="1200" b="1" dirty="0">
                <a:solidFill>
                  <a:srgbClr val="4361EE"/>
                </a:solidFill>
                <a:latin typeface="Georgia" pitchFamily="34" charset="0"/>
                <a:ea typeface="Georgia" pitchFamily="34" charset="-122"/>
                <a:cs typeface="Georgia" pitchFamily="34" charset="-120"/>
              </a:rPr>
              <a:t>Pitch Contour</a:t>
            </a:r>
            <a:endParaRPr lang="en-US" sz="1200" dirty="0"/>
          </a:p>
        </p:txBody>
      </p:sp>
      <p:sp>
        <p:nvSpPr>
          <p:cNvPr id="12" name="Text 10"/>
          <p:cNvSpPr/>
          <p:nvPr/>
        </p:nvSpPr>
        <p:spPr>
          <a:xfrm>
            <a:off x="777240" y="3108960"/>
            <a:ext cx="1645920" cy="64008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看见旋律</a:t>
            </a:r>
            <a:endParaRPr lang="en-US" sz="1100" dirty="0"/>
          </a:p>
          <a:p>
            <a:pPr algn="ctr" indent="0" marL="0">
              <a:buNone/>
            </a:pPr>
            <a:r>
              <a:rPr lang="en-US" sz="1100" dirty="0">
                <a:solidFill>
                  <a:srgbClr val="1E293B"/>
                </a:solidFill>
                <a:latin typeface="Calibri" pitchFamily="34" charset="0"/>
                <a:ea typeface="Calibri" pitchFamily="34" charset="-122"/>
                <a:cs typeface="Calibri" pitchFamily="34" charset="-120"/>
              </a:rPr>
              <a:t>轮廓的变化</a:t>
            </a:r>
            <a:endParaRPr lang="en-US" sz="1100" dirty="0"/>
          </a:p>
        </p:txBody>
      </p:sp>
      <p:sp>
        <p:nvSpPr>
          <p:cNvPr id="13" name="Shape 11"/>
          <p:cNvSpPr/>
          <p:nvPr/>
        </p:nvSpPr>
        <p:spPr>
          <a:xfrm>
            <a:off x="2743200" y="2011680"/>
            <a:ext cx="1737360" cy="2377440"/>
          </a:xfrm>
          <a:prstGeom prst="rect">
            <a:avLst/>
          </a:prstGeom>
          <a:solidFill>
            <a:srgbClr val="F1F5F9"/>
          </a:solidFill>
          <a:ln w="6350">
            <a:solidFill>
              <a:srgbClr val="E2EBF4"/>
            </a:solidFill>
            <a:prstDash val="solid"/>
          </a:ln>
        </p:spPr>
      </p:sp>
      <p:sp>
        <p:nvSpPr>
          <p:cNvPr id="14" name="Shape 12"/>
          <p:cNvSpPr/>
          <p:nvPr/>
        </p:nvSpPr>
        <p:spPr>
          <a:xfrm>
            <a:off x="2743200" y="2011680"/>
            <a:ext cx="1737360" cy="109728"/>
          </a:xfrm>
          <a:prstGeom prst="rect">
            <a:avLst/>
          </a:prstGeom>
          <a:solidFill>
            <a:srgbClr val="7B2FBE"/>
          </a:solidFill>
          <a:ln w="12700">
            <a:solidFill>
              <a:srgbClr val="7B2FBE"/>
            </a:solidFill>
            <a:prstDash val="solid"/>
          </a:ln>
        </p:spPr>
      </p:sp>
      <p:sp>
        <p:nvSpPr>
          <p:cNvPr id="15" name="Shape 13"/>
          <p:cNvSpPr/>
          <p:nvPr/>
        </p:nvSpPr>
        <p:spPr>
          <a:xfrm>
            <a:off x="3383280" y="2212848"/>
            <a:ext cx="457200" cy="457200"/>
          </a:xfrm>
          <a:prstGeom prst="ellipse">
            <a:avLst/>
          </a:prstGeom>
          <a:solidFill>
            <a:srgbClr val="7B2FBE">
              <a:alpha val="75000"/>
            </a:srgbClr>
          </a:solidFill>
          <a:ln w="12700">
            <a:solidFill>
              <a:srgbClr val="7B2FBE"/>
            </a:solidFill>
            <a:prstDash val="solid"/>
          </a:ln>
        </p:spPr>
      </p:sp>
      <p:sp>
        <p:nvSpPr>
          <p:cNvPr id="16" name="Text 14"/>
          <p:cNvSpPr/>
          <p:nvPr/>
        </p:nvSpPr>
        <p:spPr>
          <a:xfrm>
            <a:off x="2788920" y="2798064"/>
            <a:ext cx="1645920" cy="274320"/>
          </a:xfrm>
          <a:prstGeom prst="rect">
            <a:avLst/>
          </a:prstGeom>
          <a:noFill/>
          <a:ln/>
        </p:spPr>
        <p:txBody>
          <a:bodyPr wrap="square" lIns="0" tIns="0" rIns="0" bIns="0" rtlCol="0" anchor="ctr"/>
          <a:lstStyle/>
          <a:p>
            <a:pPr algn="ctr" indent="0" marL="0">
              <a:buNone/>
            </a:pPr>
            <a:r>
              <a:rPr lang="en-US" sz="1200" b="1" dirty="0">
                <a:solidFill>
                  <a:srgbClr val="7B2FBE"/>
                </a:solidFill>
                <a:latin typeface="Georgia" pitchFamily="34" charset="0"/>
                <a:ea typeface="Georgia" pitchFamily="34" charset="-122"/>
                <a:cs typeface="Georgia" pitchFamily="34" charset="-120"/>
              </a:rPr>
              <a:t>Timbre PCA</a:t>
            </a:r>
            <a:endParaRPr lang="en-US" sz="1200" dirty="0"/>
          </a:p>
        </p:txBody>
      </p:sp>
      <p:sp>
        <p:nvSpPr>
          <p:cNvPr id="17" name="Text 15"/>
          <p:cNvSpPr/>
          <p:nvPr/>
        </p:nvSpPr>
        <p:spPr>
          <a:xfrm>
            <a:off x="2788920" y="3108960"/>
            <a:ext cx="1645920" cy="64008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感知音色</a:t>
            </a:r>
            <a:endParaRPr lang="en-US" sz="1100" dirty="0"/>
          </a:p>
          <a:p>
            <a:pPr algn="ctr" indent="0" marL="0">
              <a:buNone/>
            </a:pPr>
            <a:r>
              <a:rPr lang="en-US" sz="1100" dirty="0">
                <a:solidFill>
                  <a:srgbClr val="1E293B"/>
                </a:solidFill>
                <a:latin typeface="Calibri" pitchFamily="34" charset="0"/>
                <a:ea typeface="Calibri" pitchFamily="34" charset="-122"/>
                <a:cs typeface="Calibri" pitchFamily="34" charset="-120"/>
              </a:rPr>
              <a:t>远近关系</a:t>
            </a:r>
            <a:endParaRPr lang="en-US" sz="1100" dirty="0"/>
          </a:p>
        </p:txBody>
      </p:sp>
      <p:sp>
        <p:nvSpPr>
          <p:cNvPr id="18" name="Shape 16"/>
          <p:cNvSpPr/>
          <p:nvPr/>
        </p:nvSpPr>
        <p:spPr>
          <a:xfrm>
            <a:off x="4754880" y="2011680"/>
            <a:ext cx="1737360" cy="2377440"/>
          </a:xfrm>
          <a:prstGeom prst="rect">
            <a:avLst/>
          </a:prstGeom>
          <a:solidFill>
            <a:srgbClr val="F1F5F9"/>
          </a:solidFill>
          <a:ln w="6350">
            <a:solidFill>
              <a:srgbClr val="E2EBF4"/>
            </a:solidFill>
            <a:prstDash val="solid"/>
          </a:ln>
        </p:spPr>
      </p:sp>
      <p:sp>
        <p:nvSpPr>
          <p:cNvPr id="19" name="Shape 17"/>
          <p:cNvSpPr/>
          <p:nvPr/>
        </p:nvSpPr>
        <p:spPr>
          <a:xfrm>
            <a:off x="4754880" y="2011680"/>
            <a:ext cx="1737360" cy="109728"/>
          </a:xfrm>
          <a:prstGeom prst="rect">
            <a:avLst/>
          </a:prstGeom>
          <a:solidFill>
            <a:srgbClr val="E76F51"/>
          </a:solidFill>
          <a:ln w="12700">
            <a:solidFill>
              <a:srgbClr val="E76F51"/>
            </a:solidFill>
            <a:prstDash val="solid"/>
          </a:ln>
        </p:spPr>
      </p:sp>
      <p:sp>
        <p:nvSpPr>
          <p:cNvPr id="20" name="Shape 18"/>
          <p:cNvSpPr/>
          <p:nvPr/>
        </p:nvSpPr>
        <p:spPr>
          <a:xfrm>
            <a:off x="5394960" y="2212848"/>
            <a:ext cx="457200" cy="457200"/>
          </a:xfrm>
          <a:prstGeom prst="ellipse">
            <a:avLst/>
          </a:prstGeom>
          <a:solidFill>
            <a:srgbClr val="E76F51">
              <a:alpha val="75000"/>
            </a:srgbClr>
          </a:solidFill>
          <a:ln w="12700">
            <a:solidFill>
              <a:srgbClr val="E76F51"/>
            </a:solidFill>
            <a:prstDash val="solid"/>
          </a:ln>
        </p:spPr>
      </p:sp>
      <p:sp>
        <p:nvSpPr>
          <p:cNvPr id="21" name="Text 19"/>
          <p:cNvSpPr/>
          <p:nvPr/>
        </p:nvSpPr>
        <p:spPr>
          <a:xfrm>
            <a:off x="4800600" y="2798064"/>
            <a:ext cx="1645920" cy="274320"/>
          </a:xfrm>
          <a:prstGeom prst="rect">
            <a:avLst/>
          </a:prstGeom>
          <a:noFill/>
          <a:ln/>
        </p:spPr>
        <p:txBody>
          <a:bodyPr wrap="square" lIns="0" tIns="0" rIns="0" bIns="0" rtlCol="0" anchor="ctr"/>
          <a:lstStyle/>
          <a:p>
            <a:pPr algn="ctr" indent="0" marL="0">
              <a:buNone/>
            </a:pPr>
            <a:r>
              <a:rPr lang="en-US" sz="1200" b="1" dirty="0">
                <a:solidFill>
                  <a:srgbClr val="E76F51"/>
                </a:solidFill>
                <a:latin typeface="Georgia" pitchFamily="34" charset="0"/>
                <a:ea typeface="Georgia" pitchFamily="34" charset="-122"/>
                <a:cs typeface="Georgia" pitchFamily="34" charset="-120"/>
              </a:rPr>
              <a:t>Rhythm Bubbles</a:t>
            </a:r>
            <a:endParaRPr lang="en-US" sz="1200" dirty="0"/>
          </a:p>
        </p:txBody>
      </p:sp>
      <p:sp>
        <p:nvSpPr>
          <p:cNvPr id="22" name="Text 20"/>
          <p:cNvSpPr/>
          <p:nvPr/>
        </p:nvSpPr>
        <p:spPr>
          <a:xfrm>
            <a:off x="4800600" y="3108960"/>
            <a:ext cx="1645920" cy="64008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直观感受</a:t>
            </a:r>
            <a:endParaRPr lang="en-US" sz="1100" dirty="0"/>
          </a:p>
          <a:p>
            <a:pPr algn="ctr" indent="0" marL="0">
              <a:buNone/>
            </a:pPr>
            <a:r>
              <a:rPr lang="en-US" sz="1100" dirty="0">
                <a:solidFill>
                  <a:srgbClr val="1E293B"/>
                </a:solidFill>
                <a:latin typeface="Calibri" pitchFamily="34" charset="0"/>
                <a:ea typeface="Calibri" pitchFamily="34" charset="-122"/>
                <a:cs typeface="Calibri" pitchFamily="34" charset="-120"/>
              </a:rPr>
              <a:t>密度疏密</a:t>
            </a:r>
            <a:endParaRPr lang="en-US" sz="1100" dirty="0"/>
          </a:p>
        </p:txBody>
      </p:sp>
      <p:sp>
        <p:nvSpPr>
          <p:cNvPr id="23" name="Shape 21"/>
          <p:cNvSpPr/>
          <p:nvPr/>
        </p:nvSpPr>
        <p:spPr>
          <a:xfrm>
            <a:off x="6766560" y="2011680"/>
            <a:ext cx="1737360" cy="2377440"/>
          </a:xfrm>
          <a:prstGeom prst="rect">
            <a:avLst/>
          </a:prstGeom>
          <a:solidFill>
            <a:srgbClr val="F1F5F9"/>
          </a:solidFill>
          <a:ln w="6350">
            <a:solidFill>
              <a:srgbClr val="E2EBF4"/>
            </a:solidFill>
            <a:prstDash val="solid"/>
          </a:ln>
        </p:spPr>
      </p:sp>
      <p:sp>
        <p:nvSpPr>
          <p:cNvPr id="24" name="Shape 22"/>
          <p:cNvSpPr/>
          <p:nvPr/>
        </p:nvSpPr>
        <p:spPr>
          <a:xfrm>
            <a:off x="6766560" y="2011680"/>
            <a:ext cx="1737360" cy="109728"/>
          </a:xfrm>
          <a:prstGeom prst="rect">
            <a:avLst/>
          </a:prstGeom>
          <a:solidFill>
            <a:srgbClr val="2DC653"/>
          </a:solidFill>
          <a:ln w="12700">
            <a:solidFill>
              <a:srgbClr val="2DC653"/>
            </a:solidFill>
            <a:prstDash val="solid"/>
          </a:ln>
        </p:spPr>
      </p:sp>
      <p:sp>
        <p:nvSpPr>
          <p:cNvPr id="25" name="Shape 23"/>
          <p:cNvSpPr/>
          <p:nvPr/>
        </p:nvSpPr>
        <p:spPr>
          <a:xfrm>
            <a:off x="7406640" y="2212848"/>
            <a:ext cx="457200" cy="457200"/>
          </a:xfrm>
          <a:prstGeom prst="ellipse">
            <a:avLst/>
          </a:prstGeom>
          <a:solidFill>
            <a:srgbClr val="2DC653">
              <a:alpha val="75000"/>
            </a:srgbClr>
          </a:solidFill>
          <a:ln w="12700">
            <a:solidFill>
              <a:srgbClr val="2DC653"/>
            </a:solidFill>
            <a:prstDash val="solid"/>
          </a:ln>
        </p:spPr>
      </p:sp>
      <p:sp>
        <p:nvSpPr>
          <p:cNvPr id="26" name="Text 24"/>
          <p:cNvSpPr/>
          <p:nvPr/>
        </p:nvSpPr>
        <p:spPr>
          <a:xfrm>
            <a:off x="6812280" y="2798064"/>
            <a:ext cx="1645920" cy="274320"/>
          </a:xfrm>
          <a:prstGeom prst="rect">
            <a:avLst/>
          </a:prstGeom>
          <a:noFill/>
          <a:ln/>
        </p:spPr>
        <p:txBody>
          <a:bodyPr wrap="square" lIns="0" tIns="0" rIns="0" bIns="0" rtlCol="0" anchor="ctr"/>
          <a:lstStyle/>
          <a:p>
            <a:pPr algn="ctr" indent="0" marL="0">
              <a:buNone/>
            </a:pPr>
            <a:r>
              <a:rPr lang="en-US" sz="1200" b="1" dirty="0">
                <a:solidFill>
                  <a:srgbClr val="2DC653"/>
                </a:solidFill>
                <a:latin typeface="Georgia" pitchFamily="34" charset="0"/>
                <a:ea typeface="Georgia" pitchFamily="34" charset="-122"/>
                <a:cs typeface="Georgia" pitchFamily="34" charset="-120"/>
              </a:rPr>
              <a:t>Chroma Ring</a:t>
            </a:r>
            <a:endParaRPr lang="en-US" sz="1200" dirty="0"/>
          </a:p>
        </p:txBody>
      </p:sp>
      <p:sp>
        <p:nvSpPr>
          <p:cNvPr id="27" name="Text 25"/>
          <p:cNvSpPr/>
          <p:nvPr/>
        </p:nvSpPr>
        <p:spPr>
          <a:xfrm>
            <a:off x="6812280" y="3108960"/>
            <a:ext cx="1645920" cy="64008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理解和声</a:t>
            </a:r>
            <a:endParaRPr lang="en-US" sz="1100" dirty="0"/>
          </a:p>
          <a:p>
            <a:pPr algn="ctr" indent="0" marL="0">
              <a:buNone/>
            </a:pPr>
            <a:r>
              <a:rPr lang="en-US" sz="1100" dirty="0">
                <a:solidFill>
                  <a:srgbClr val="1E293B"/>
                </a:solidFill>
                <a:latin typeface="Calibri" pitchFamily="34" charset="0"/>
                <a:ea typeface="Calibri" pitchFamily="34" charset="-122"/>
                <a:cs typeface="Calibri" pitchFamily="34" charset="-120"/>
              </a:rPr>
              <a:t>音级分布</a:t>
            </a:r>
            <a:endParaRPr lang="en-US" sz="1100" dirty="0"/>
          </a:p>
        </p:txBody>
      </p:sp>
      <p:sp>
        <p:nvSpPr>
          <p:cNvPr id="28" name="Text 26"/>
          <p:cNvSpPr/>
          <p:nvPr/>
        </p:nvSpPr>
        <p:spPr>
          <a:xfrm>
            <a:off x="731520" y="4553712"/>
            <a:ext cx="7680960" cy="32004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这四个视图可以同时加载同一首曲子，联动分析，形成完整的音乐画像</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6B6D4"/>
          </a:solidFill>
          <a:ln w="12700">
            <a:solidFill>
              <a:srgbClr val="06B6D4"/>
            </a:solidFill>
            <a:prstDash val="solid"/>
          </a:ln>
        </p:spPr>
      </p:sp>
      <p:sp>
        <p:nvSpPr>
          <p:cNvPr id="3" name="Text 1"/>
          <p:cNvSpPr/>
          <p:nvPr/>
        </p:nvSpPr>
        <p:spPr>
          <a:xfrm>
            <a:off x="182880" y="137160"/>
            <a:ext cx="420624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  Overview</a:t>
            </a:r>
            <a:endParaRPr lang="en-US" sz="2200" dirty="0"/>
          </a:p>
        </p:txBody>
      </p:sp>
      <p:sp>
        <p:nvSpPr>
          <p:cNvPr id="4" name="Text 2"/>
          <p:cNvSpPr/>
          <p:nvPr/>
        </p:nvSpPr>
        <p:spPr>
          <a:xfrm>
            <a:off x="182880" y="658368"/>
            <a:ext cx="4206240" cy="274320"/>
          </a:xfrm>
          <a:prstGeom prst="rect">
            <a:avLst/>
          </a:prstGeom>
          <a:noFill/>
          <a:ln/>
        </p:spPr>
        <p:txBody>
          <a:bodyPr wrap="square" lIns="0" tIns="0" rIns="0" bIns="0" rtlCol="0" anchor="ctr"/>
          <a:lstStyle/>
          <a:p>
            <a:pPr indent="0" marL="0">
              <a:buNone/>
            </a:pPr>
            <a:r>
              <a:rPr lang="en-US" sz="1100" i="1" dirty="0">
                <a:solidFill>
                  <a:srgbClr val="06B6D4"/>
                </a:solidFill>
                <a:latin typeface="Calibri" pitchFamily="34" charset="0"/>
                <a:ea typeface="Calibri" pitchFamily="34" charset="-122"/>
                <a:cs typeface="Calibri" pitchFamily="34" charset="-120"/>
              </a:rPr>
              <a:t>Overview — Integrated Visual Summary</a:t>
            </a:r>
            <a:endParaRPr lang="en-US" sz="1100" dirty="0"/>
          </a:p>
        </p:txBody>
      </p:sp>
      <p:sp>
        <p:nvSpPr>
          <p:cNvPr id="5" name="Shape 3"/>
          <p:cNvSpPr/>
          <p:nvPr/>
        </p:nvSpPr>
        <p:spPr>
          <a:xfrm>
            <a:off x="182880" y="1005840"/>
            <a:ext cx="1371600" cy="201168"/>
          </a:xfrm>
          <a:prstGeom prst="rect">
            <a:avLst/>
          </a:prstGeom>
          <a:solidFill>
            <a:srgbClr val="06B6D4">
              <a:alpha val="70000"/>
            </a:srgbClr>
          </a:solidFill>
          <a:ln w="12700">
            <a:solidFill>
              <a:srgbClr val="06B6D4"/>
            </a:solidFill>
            <a:prstDash val="solid"/>
          </a:ln>
        </p:spPr>
      </p:sp>
      <p:sp>
        <p:nvSpPr>
          <p:cNvPr id="6" name="Text 4"/>
          <p:cNvSpPr/>
          <p:nvPr/>
        </p:nvSpPr>
        <p:spPr>
          <a:xfrm>
            <a:off x="237744" y="1014984"/>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Design Goals</a:t>
            </a:r>
            <a:endParaRPr lang="en-US" sz="900" dirty="0"/>
          </a:p>
        </p:txBody>
      </p:sp>
      <p:sp>
        <p:nvSpPr>
          <p:cNvPr id="7" name="Text 5"/>
          <p:cNvSpPr/>
          <p:nvPr/>
        </p:nvSpPr>
        <p:spPr>
          <a:xfrm>
            <a:off x="182880" y="1261872"/>
            <a:ext cx="4114800" cy="7498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Four musical features visualized simultaneously in a concentric-ring chart</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Click a variation card to expand it; four rings are overlaid on the same center</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Hover to read onset density and relative loudness values</a:t>
            </a:r>
            <a:endParaRPr lang="en-US" sz="1100" dirty="0"/>
          </a:p>
        </p:txBody>
      </p:sp>
      <p:sp>
        <p:nvSpPr>
          <p:cNvPr id="8" name="Shape 6"/>
          <p:cNvSpPr/>
          <p:nvPr/>
        </p:nvSpPr>
        <p:spPr>
          <a:xfrm>
            <a:off x="182880" y="2103120"/>
            <a:ext cx="1371600" cy="201168"/>
          </a:xfrm>
          <a:prstGeom prst="rect">
            <a:avLst/>
          </a:prstGeom>
          <a:solidFill>
            <a:srgbClr val="06B6D4">
              <a:alpha val="70000"/>
            </a:srgbClr>
          </a:solidFill>
          <a:ln w="12700">
            <a:solidFill>
              <a:srgbClr val="06B6D4"/>
            </a:solidFill>
            <a:prstDash val="solid"/>
          </a:ln>
        </p:spPr>
      </p:sp>
      <p:sp>
        <p:nvSpPr>
          <p:cNvPr id="9" name="Text 7"/>
          <p:cNvSpPr/>
          <p:nvPr/>
        </p:nvSpPr>
        <p:spPr>
          <a:xfrm>
            <a:off x="237744" y="2112264"/>
            <a:ext cx="1261872"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Four Rings (inner → outer)</a:t>
            </a:r>
            <a:endParaRPr lang="en-US" sz="900" dirty="0"/>
          </a:p>
        </p:txBody>
      </p:sp>
      <p:sp>
        <p:nvSpPr>
          <p:cNvPr id="10" name="Shape 8"/>
          <p:cNvSpPr/>
          <p:nvPr/>
        </p:nvSpPr>
        <p:spPr>
          <a:xfrm>
            <a:off x="182880" y="2386584"/>
            <a:ext cx="91440" cy="91440"/>
          </a:xfrm>
          <a:prstGeom prst="ellipse">
            <a:avLst/>
          </a:prstGeom>
          <a:solidFill>
            <a:srgbClr val="7B2FBE"/>
          </a:solidFill>
          <a:ln w="12700">
            <a:solidFill>
              <a:srgbClr val="7B2FBE"/>
            </a:solidFill>
            <a:prstDash val="solid"/>
          </a:ln>
        </p:spPr>
      </p:sp>
      <p:sp>
        <p:nvSpPr>
          <p:cNvPr id="11" name="Text 9"/>
          <p:cNvSpPr/>
          <p:nvPr/>
        </p:nvSpPr>
        <p:spPr>
          <a:xfrm>
            <a:off x="347472" y="2340864"/>
            <a:ext cx="3950208"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① PCA center  →  Timbre principal-component projection point, with PC1 / PC2 explained variance %</a:t>
            </a:r>
            <a:endParaRPr lang="en-US" sz="1100" dirty="0"/>
          </a:p>
        </p:txBody>
      </p:sp>
      <p:sp>
        <p:nvSpPr>
          <p:cNvPr id="12" name="Shape 10"/>
          <p:cNvSpPr/>
          <p:nvPr/>
        </p:nvSpPr>
        <p:spPr>
          <a:xfrm>
            <a:off x="182880" y="2907792"/>
            <a:ext cx="91440" cy="91440"/>
          </a:xfrm>
          <a:prstGeom prst="ellipse">
            <a:avLst/>
          </a:prstGeom>
          <a:solidFill>
            <a:srgbClr val="4361EE"/>
          </a:solidFill>
          <a:ln w="12700">
            <a:solidFill>
              <a:srgbClr val="4361EE"/>
            </a:solidFill>
            <a:prstDash val="solid"/>
          </a:ln>
        </p:spPr>
      </p:sp>
      <p:sp>
        <p:nvSpPr>
          <p:cNvPr id="13" name="Text 11"/>
          <p:cNvSpPr/>
          <p:nvPr/>
        </p:nvSpPr>
        <p:spPr>
          <a:xfrm>
            <a:off x="347472" y="2862072"/>
            <a:ext cx="3950208"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② Melody ring  →  Beat pitches in polar coordinates, radius = relative pitch</a:t>
            </a:r>
            <a:endParaRPr lang="en-US" sz="1100" dirty="0"/>
          </a:p>
        </p:txBody>
      </p:sp>
      <p:sp>
        <p:nvSpPr>
          <p:cNvPr id="14" name="Shape 12"/>
          <p:cNvSpPr/>
          <p:nvPr/>
        </p:nvSpPr>
        <p:spPr>
          <a:xfrm>
            <a:off x="182880" y="3429000"/>
            <a:ext cx="91440" cy="91440"/>
          </a:xfrm>
          <a:prstGeom prst="ellipse">
            <a:avLst/>
          </a:prstGeom>
          <a:solidFill>
            <a:srgbClr val="2DC653"/>
          </a:solidFill>
          <a:ln w="12700">
            <a:solidFill>
              <a:srgbClr val="2DC653"/>
            </a:solidFill>
            <a:prstDash val="solid"/>
          </a:ln>
        </p:spPr>
      </p:sp>
      <p:sp>
        <p:nvSpPr>
          <p:cNvPr id="15" name="Text 13"/>
          <p:cNvSpPr/>
          <p:nvPr/>
        </p:nvSpPr>
        <p:spPr>
          <a:xfrm>
            <a:off x="347472" y="3383280"/>
            <a:ext cx="3950208"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③ Chroma ring  →  12 pitch classes in circle-of-fifths layout, sector size = usage share, top 3 highlighted</a:t>
            </a:r>
            <a:endParaRPr lang="en-US" sz="1100" dirty="0"/>
          </a:p>
        </p:txBody>
      </p:sp>
      <p:sp>
        <p:nvSpPr>
          <p:cNvPr id="16" name="Shape 14"/>
          <p:cNvSpPr/>
          <p:nvPr/>
        </p:nvSpPr>
        <p:spPr>
          <a:xfrm>
            <a:off x="182880" y="3950208"/>
            <a:ext cx="91440" cy="91440"/>
          </a:xfrm>
          <a:prstGeom prst="ellipse">
            <a:avLst/>
          </a:prstGeom>
          <a:solidFill>
            <a:srgbClr val="E76F51"/>
          </a:solidFill>
          <a:ln w="12700">
            <a:solidFill>
              <a:srgbClr val="E76F51"/>
            </a:solidFill>
            <a:prstDash val="solid"/>
          </a:ln>
        </p:spPr>
      </p:sp>
      <p:sp>
        <p:nvSpPr>
          <p:cNvPr id="17" name="Text 15"/>
          <p:cNvSpPr/>
          <p:nvPr/>
        </p:nvSpPr>
        <p:spPr>
          <a:xfrm>
            <a:off x="347472" y="3904488"/>
            <a:ext cx="3950208"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④ Rhythm bubble ring  →  Bubble size = section loudness, opacity = onset density</a:t>
            </a:r>
            <a:endParaRPr lang="en-US" sz="1100" dirty="0"/>
          </a:p>
        </p:txBody>
      </p:sp>
      <p:sp>
        <p:nvSpPr>
          <p:cNvPr id="18" name="Text 16"/>
          <p:cNvSpPr/>
          <p:nvPr/>
        </p:nvSpPr>
        <p:spPr>
          <a:xfrm>
            <a:off x="182880" y="4425696"/>
            <a:ext cx="4114800" cy="475488"/>
          </a:xfrm>
          <a:prstGeom prst="rect">
            <a:avLst/>
          </a:prstGeom>
          <a:noFill/>
          <a:ln/>
        </p:spPr>
        <p:txBody>
          <a:bodyPr wrap="square" lIns="0" tIns="0" rIns="0" bIns="0" rtlCol="0" anchor="ctr"/>
          <a:lstStyle/>
          <a:p>
            <a:pPr indent="0" marL="0">
              <a:buNone/>
            </a:pPr>
            <a:r>
              <a:rPr lang="en-US" sz="1050" i="1" dirty="0">
                <a:solidFill>
                  <a:srgbClr val="06B6D4"/>
                </a:solidFill>
                <a:latin typeface="Calibri" pitchFamily="34" charset="0"/>
                <a:ea typeface="Calibri" pitchFamily="34" charset="-122"/>
                <a:cs typeface="Calibri" pitchFamily="34" charset="-120"/>
              </a:rPr>
              <a:t>Timbre × Pitch × Harmony × Rhythm — four dimensions in one frame, spot each variation's character at a glance</a:t>
            </a:r>
            <a:endParaRPr lang="en-US" sz="1050" dirty="0"/>
          </a:p>
        </p:txBody>
      </p:sp>
      <p:sp>
        <p:nvSpPr>
          <p:cNvPr id="19" name="Shape 17"/>
          <p:cNvSpPr/>
          <p:nvPr/>
        </p:nvSpPr>
        <p:spPr>
          <a:xfrm>
            <a:off x="4343400" y="749808"/>
            <a:ext cx="4572000" cy="4206240"/>
          </a:xfrm>
          <a:prstGeom prst="rect">
            <a:avLst/>
          </a:prstGeom>
          <a:solidFill>
            <a:srgbClr val="F1F5F9"/>
          </a:solidFill>
          <a:ln w="12700">
            <a:solidFill>
              <a:srgbClr val="94A3B8"/>
            </a:solidFill>
            <a:prstDash val="dash"/>
          </a:ln>
        </p:spPr>
      </p:sp>
      <p:sp>
        <p:nvSpPr>
          <p:cNvPr id="20" name="Text 18"/>
          <p:cNvSpPr/>
          <p:nvPr/>
        </p:nvSpPr>
        <p:spPr>
          <a:xfrm>
            <a:off x="4343400" y="2560320"/>
            <a:ext cx="457200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Screenshot Area ]</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6B6D4"/>
          </a:solidFill>
          <a:ln w="12700">
            <a:solidFill>
              <a:srgbClr val="06B6D4"/>
            </a:solidFill>
            <a:prstDash val="solid"/>
          </a:ln>
        </p:spPr>
      </p:sp>
      <p:sp>
        <p:nvSpPr>
          <p:cNvPr id="3" name="Text 1"/>
          <p:cNvSpPr/>
          <p:nvPr/>
        </p:nvSpPr>
        <p:spPr>
          <a:xfrm>
            <a:off x="182880" y="137160"/>
            <a:ext cx="4206240" cy="50292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  Next Week</a:t>
            </a:r>
            <a:endParaRPr lang="en-US" sz="2200" dirty="0"/>
          </a:p>
        </p:txBody>
      </p:sp>
      <p:sp>
        <p:nvSpPr>
          <p:cNvPr id="4" name="Text 2"/>
          <p:cNvSpPr/>
          <p:nvPr/>
        </p:nvSpPr>
        <p:spPr>
          <a:xfrm>
            <a:off x="182880" y="658368"/>
            <a:ext cx="4206240" cy="274320"/>
          </a:xfrm>
          <a:prstGeom prst="rect">
            <a:avLst/>
          </a:prstGeom>
          <a:noFill/>
          <a:ln/>
        </p:spPr>
        <p:txBody>
          <a:bodyPr wrap="square" lIns="0" tIns="0" rIns="0" bIns="0" rtlCol="0" anchor="ctr"/>
          <a:lstStyle/>
          <a:p>
            <a:pPr indent="0" marL="0">
              <a:buNone/>
            </a:pPr>
            <a:r>
              <a:rPr lang="en-US" sz="1100" i="1" dirty="0">
                <a:solidFill>
                  <a:srgbClr val="06B6D4"/>
                </a:solidFill>
                <a:latin typeface="Calibri" pitchFamily="34" charset="0"/>
                <a:ea typeface="Calibri" pitchFamily="34" charset="-122"/>
                <a:cs typeface="Calibri" pitchFamily="34" charset="-120"/>
              </a:rPr>
              <a:t>Next Week's Plan</a:t>
            </a:r>
            <a:endParaRPr lang="en-US" sz="1100" dirty="0"/>
          </a:p>
        </p:txBody>
      </p:sp>
      <p:sp>
        <p:nvSpPr>
          <p:cNvPr id="5" name="Text body"/>
          <p:cNvSpPr/>
          <p:nvPr/>
        </p:nvSpPr>
        <p:spPr>
          <a:xfrm>
            <a:off x="182880" y="1200000"/>
            <a:ext cx="8709120" cy="900000"/>
          </a:xfrm>
          <a:prstGeom prst="rect">
            <a:avLst/>
          </a:prstGeom>
          <a:noFill/>
          <a:ln/>
        </p:spPr>
        <p:txBody>
          <a:bodyPr wrap="square" lIns="0" tIns="0" rIns="0" bIns="0" rtlCol="0" anchor="ctr"/>
          <a:lstStyle/>
          <a:p>
            <a:pPr indent="0" marL="0">
              <a:buNone/>
            </a:pPr>
            <a:r>
              <a:rPr lang="en-US" sz="2400" dirty="0">
                <a:solidFill>
                  <a:srgbClr val="1E293B"/>
                </a:solidFill>
                <a:latin typeface="Calibri" pitchFamily="34" charset="0"/>
                <a:ea typeface="Calibri" pitchFamily="34" charset="-122"/>
                <a:cs typeface="Calibri" pitchFamily="34" charset="-120"/>
              </a:rPr>
              <a:t>Complete chord path visualization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VariVis — 古典音乐可视化系统介绍</dc:title>
  <dc:subject>PptxGenJS Presentation</dc:subject>
  <dc:creator>PptxGenJS</dc:creator>
  <cp:lastModifiedBy>PptxGenJS</cp:lastModifiedBy>
  <cp:revision>1</cp:revision>
  <dcterms:created xsi:type="dcterms:W3CDTF">2026-03-24T12:01:38Z</dcterms:created>
  <dcterms:modified xsi:type="dcterms:W3CDTF">2026-03-24T12:01:38Z</dcterms:modified>
</cp:coreProperties>
</file>